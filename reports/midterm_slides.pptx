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k and data" id="{371a8ce5-055e-d98a-37df-d36540af281a}">
          <p14:sldIdLst>
            <p14:sldId id="256"/>
            <p14:sldId id="257"/>
          </p14:sldIdLst>
        </p14:section>
        <p14:section name="Baseline and metrics" id="{8257f2df-3683-5cfa-f3c9-45b8daeca575}">
          <p14:sldIdLst>
            <p14:sldId id="258"/>
            <p14:sldId id="259"/>
          </p14:sldIdLst>
        </p14:section>
        <p14:section name="Results" id="{6aaf0031-1c69-b4bd-f159-f023e84a4d55}">
          <p14:sldIdLst>
            <p14:sldId id="260"/>
            <p14:sldId id="261"/>
          </p14:sldIdLst>
        </p14:section>
        <p14:section name="Conclusions" id="{5b73b49a-116c-0ee6-574a-1898fcc8eab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ЗАДАЧА. Мы предсказываем, сорвётся ли договор по госзакупке: будет расторгнут или вообще не заключён. Прогноз делается в момент, когда победитель уже выбран, но договор ещё не исполнен. Это бинарная классификация: ответ да или нет. Зачем: закупок около 1,8 млн в год, проверить все невозможно, поэтому аудитору нужен список самых рискованных. Цифры справа: 358 789 закупок с известным исходом, из них 6,6% сорвались, то есть на один срыв приходится 14 нормальных договоров.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ДАННЫЕ. Источник: открытые данные портала госзакупок Казахстана, получены через официальный API. Взяты все закупки, опубликованные в январе–марте 2024 года, по которым был заключён договор. Пять связанных таблиц (закупки, лоты, заявки, договоры, реестр) сведены в одну: одна строка = одна закупка. Target: договор расторгнут или не заключён. Признаков 20, и все они известны в момент выбора победителя: это защита от утечки данных. Разбиение по времени: учимся на январе–феврале, порог подбираем на первой половине марта, итог считаем на второй половине марта. Перемешивать нельзя: модель должна предсказывать будущее. Два факта из анализа: риск растёт в 10 раз с ростом суммы закупки, и запрос ценовых предложений срывается втрое чаще закупки из одного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И ПОЧЕМУ ОН. Модель: логистическая регрессия с весами классов. Схема слева: сначала подготовка (пропуски заполняем медианой, числа приводим к одному масштабу, категории превращаем в столбцы из 0 и 1), потом сама модель, на выходе оценка риска от 0 до 1. Подготовка обучается только на train, чтобы не подглядывать в тест. Почему именно она: 1) выдаёт вероятность, значит закупки можно отсортировать по риску; 2) у каждого признака понятный коэффициент, можно проверить модель здравым смыслом; 3) веса классов решают проблему редких срывов: один срыв весит как 14 обычных договоров; 4) обучается за секунду. Почему не другие: бустинг и нейросеть сильнее, но их надо с чем-то сравнивать, это тема третьего задания. SVM и kNN слишком медленные на 266 тысячах строк. Наивный Байес предполагает независимые признаки, а у нас они сильно связаны.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МЕТРИКИ. Сначала почему не accuracy, то есть не доля правильных ответов. Если всегда отвечать «не сорвётся», получится 93,4% правильных ответов, и при этом ни одного найденного срыва. Поэтому accuracy здесь бесполезна. Мы берём четыре метрики. ROC-AUC: вероятность, что сорванному договору модель поставит оценку выше, чем нормальному; 0,5 это случайность, 1 это идеал; у нас 0,79. PR-AUC: средняя точность по всем уровням полноты; случайный уровень равен доле срывов 0,066, у нас 0,26, то есть в 4 раза лучше; это самая честная метрика при редком классе. F1: баланс между точностью (сколько из помеченных действительно сорвались) и полнотой (сколько срывов мы нашли) при одном пороге; порог подбирали на валидации. Precision@1%: качество самой верхушки списка, потому что аудитор может проверить только малую часть. Числа справа это результат baseline на тесте.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РЕЗУЛЬТАТЫ. Все цифры посчитаны на тесте, это вторая половина марта, модель этих закупок не видела. Строка Prior это отсутствие модели, уровень случайности. Baseline, логистическая регрессия: ROC-AUC 0,79, PR-AUC 0,26. Три вывода слева. Первое: результат устойчив, на валидации и на тесте почти одинаковые цифры, значит это не случайность одного периода. Второе: случайный лес на тех же признаках лучше, значит в данных есть нелинейные зависимости, которые линейная модель не ловит. Третье: текст названий лотов даёт небольшой прирост. График справа самый практичный: если аудитор проверит 5% закупок с самым высоким риском, он найдёт 26% всех срывов, а если 20%, то 60%. При случайном выборе было бы 5% и 20%. P@1% это точность в верхнем 1% списка, R@5% это доля срывов, найденных в верхних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МОДЕЛЬ ОШИБАЕТСЯ. Это честный разбор слабых мест. Левый график: качество ранжирования внутри каждого способа закупки. Внутри запроса ценовых предложений модель работает хорошо, 0,80. Внутри остальных способов почти случайно, около 0,5. То есть модель в основном научилась отличать один способ от другого и большие суммы от маленьких. Правый график: доля найденных срывов по сумме закупки. В самой дешёвой четверти модель не находит ничего, 0%, а в самой дорогой 64%. Линейная модель умеет говорить только «чем дороже, тем рискованнее» и не видит рискованные дешёвые закупки. Третье: оценки модели нельзя читать как вероятности. Из-за весов классов они завышены: средняя оценка 0,42 при реальной доле срывов 0,07. Для сортировки это не мешает, но показывать человеку «риск 70%» нельзя, нужна калибровка.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И СЛЕДУЮЩИЙ ЭТАП. Что показал первый эксперимент. Первое: информация, известная в момент выбора победителя, действительно предсказывает срыв договора; даже простая модель даёт ROC-AUC 0,79 на новых данных. Второе: это уже полезно на практике, список модели в 5 раз лучше случайной проверки. Третье: если считать срывом только однозначные случаи (одностороннее расторжение или незаключение), качество даже выше, 0,83, значит модель ловит настоящий сигнал, а не шум в разметке. Ограничения: модель линейная, данные только за один квартал, нет истории поставщика (её нельзя добавить без утечки данных), оценки не откалиброваны. Следующий этап, третье задание: 1) градиентный бустинг с подбором гиперпараметров; 2) калибровка вероятностей; 3) дообучение нейросети-трансформера на текстах лотов и объединение с табличной моделью; 4) проверка по сегментам, улучшилось ли качество именно там, где baseline слаб.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Tender Risk ML · Midterm · Baseline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Tender Risk ML · Midterm · Baseline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Which procurement contracts will fail?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Midterm · Baseline model · Tender Risk ML · Aziz Abdulin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520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TASK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Binary classification: at the moment the winner is selected, predict whether the contract will be terminated or never signed.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1.8 million procurements a year: auditors can inspect only a small share and need a ranked list of the riskiest ones.</a:t>
            </a:r>
            <a:endParaRPr lang="en-US" sz="1800" dirty="0"/>
          </a:p>
        </p:txBody>
      </p:sp>
      <p:sp>
        <p:nvSpPr>
          <p:cNvPr id="8" name="Card 5"/>
          <p:cNvSpPr/>
          <p:nvPr/>
        </p:nvSpPr>
        <p:spPr>
          <a:xfrm>
            <a:off x="8229600" y="68580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8869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358,789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procurements with a known outcome (Q1 2024)</a:t>
            </a:r>
            <a:endParaRPr lang="en-US" sz="1400" dirty="0"/>
          </a:p>
        </p:txBody>
      </p:sp>
      <p:sp>
        <p:nvSpPr>
          <p:cNvPr id="11" name="Card 8"/>
          <p:cNvSpPr/>
          <p:nvPr/>
        </p:nvSpPr>
        <p:spPr>
          <a:xfrm>
            <a:off x="8229600" y="256032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27614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6.6 %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 them ended with a failed contract</a:t>
            </a:r>
            <a:endParaRPr lang="en-US" sz="1400" dirty="0"/>
          </a:p>
        </p:txBody>
      </p:sp>
      <p:sp>
        <p:nvSpPr>
          <p:cNvPr id="14" name="Card 11"/>
          <p:cNvSpPr/>
          <p:nvPr/>
        </p:nvSpPr>
        <p:spPr>
          <a:xfrm>
            <a:off x="8229600" y="443484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03920" y="46360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 : 14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class imbalance — failures are rare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Data: procurements with a known outcome</a:t>
            </a:r>
            <a:endParaRPr lang="en-US" sz="3200" dirty="0"/>
          </a:p>
        </p:txBody>
      </p:sp>
      <p:sp>
        <p:nvSpPr>
          <p:cNvPr id="3" name="Text 14"/>
          <p:cNvSpPr txBox="1"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Source</a:t>
            </a:r>
            <a:endParaRPr lang="en-US" sz="1400" dirty="0"/>
          </a:p>
        </p:txBody>
      </p:sp>
      <p:sp>
        <p:nvSpPr>
          <p:cNvPr id="4" name="Text 15"/>
          <p:cNvSpPr txBox="1"/>
          <p:nvPr/>
        </p:nvSpPr>
        <p:spPr>
          <a:xfrm>
            <a:off x="1783080" y="1463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data of the state procurement portal goszakup.gov.kz (OWS v3 API)</a:t>
            </a:r>
            <a:endParaRPr lang="en-US" sz="1400" dirty="0"/>
          </a:p>
        </p:txBody>
      </p:sp>
      <p:sp>
        <p:nvSpPr>
          <p:cNvPr id="5" name="Text 16"/>
          <p:cNvSpPr txBox="1"/>
          <p:nvPr/>
        </p:nvSpPr>
        <p:spPr>
          <a:xfrm>
            <a:off x="54864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Scope</a:t>
            </a:r>
            <a:endParaRPr lang="en-US" sz="1400" dirty="0"/>
          </a:p>
        </p:txBody>
      </p:sp>
      <p:sp>
        <p:nvSpPr>
          <p:cNvPr id="6" name="Text 17"/>
          <p:cNvSpPr txBox="1"/>
          <p:nvPr/>
        </p:nvSpPr>
        <p:spPr>
          <a:xfrm>
            <a:off x="1783080" y="2606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procurements published in Jan–Mar 2024 that produced a contract; 5 linked tables joined into one row per procurement</a:t>
            </a:r>
            <a:endParaRPr lang="en-US" sz="1400" dirty="0"/>
          </a:p>
        </p:txBody>
      </p:sp>
      <p:sp>
        <p:nvSpPr>
          <p:cNvPr id="7" name="Text 18"/>
          <p:cNvSpPr txBox="1"/>
          <p:nvPr/>
        </p:nvSpPr>
        <p:spPr>
          <a:xfrm>
            <a:off x="54864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</a:t>
            </a:r>
            <a:endParaRPr lang="en-US" sz="1400" dirty="0"/>
          </a:p>
        </p:txBody>
      </p:sp>
      <p:sp>
        <p:nvSpPr>
          <p:cNvPr id="8" name="Text 19"/>
          <p:cNvSpPr txBox="1"/>
          <p:nvPr/>
        </p:nvSpPr>
        <p:spPr>
          <a:xfrm>
            <a:off x="178308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contract_failed = 1 if the contract was terminated or never signed</a:t>
            </a:r>
            <a:endParaRPr lang="en-US" sz="1400" dirty="0"/>
          </a:p>
        </p:txBody>
      </p:sp>
      <p:sp>
        <p:nvSpPr>
          <p:cNvPr id="9" name="Text 20"/>
          <p:cNvSpPr txBox="1"/>
          <p:nvPr/>
        </p:nvSpPr>
        <p:spPr>
          <a:xfrm>
            <a:off x="548640" y="4892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Features</a:t>
            </a:r>
            <a:endParaRPr lang="en-US" sz="1400" dirty="0"/>
          </a:p>
        </p:txBody>
      </p:sp>
      <p:sp>
        <p:nvSpPr>
          <p:cNvPr id="10" name="Text 21"/>
          <p:cNvSpPr txBox="1"/>
          <p:nvPr/>
        </p:nvSpPr>
        <p:spPr>
          <a:xfrm>
            <a:off x="1783080" y="4892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features known at award time: value, method, competition, timing, subject, region</a:t>
            </a:r>
            <a:endParaRPr lang="en-US" sz="1400" dirty="0"/>
          </a:p>
        </p:txBody>
      </p:sp>
      <p:sp>
        <p:nvSpPr>
          <p:cNvPr id="11" name="Card 22"/>
          <p:cNvSpPr/>
          <p:nvPr/>
        </p:nvSpPr>
        <p:spPr>
          <a:xfrm>
            <a:off x="6492240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Text 23"/>
          <p:cNvSpPr txBox="1"/>
          <p:nvPr/>
        </p:nvSpPr>
        <p:spPr>
          <a:xfrm>
            <a:off x="6492240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358,789</a:t>
            </a:r>
            <a:endParaRPr lang="en-US" sz="2600" dirty="0"/>
          </a:p>
        </p:txBody>
      </p:sp>
      <p:sp>
        <p:nvSpPr>
          <p:cNvPr id="13" name="Text 24"/>
          <p:cNvSpPr txBox="1"/>
          <p:nvPr/>
        </p:nvSpPr>
        <p:spPr>
          <a:xfrm>
            <a:off x="6492240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procurements</a:t>
            </a:r>
            <a:endParaRPr lang="en-US" sz="1200" dirty="0"/>
          </a:p>
        </p:txBody>
      </p:sp>
      <p:sp>
        <p:nvSpPr>
          <p:cNvPr id="14" name="Card 25"/>
          <p:cNvSpPr/>
          <p:nvPr/>
        </p:nvSpPr>
        <p:spPr>
          <a:xfrm>
            <a:off x="8247888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5" name="Text 26"/>
          <p:cNvSpPr txBox="1"/>
          <p:nvPr/>
        </p:nvSpPr>
        <p:spPr>
          <a:xfrm>
            <a:off x="8247888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6.6 %</a:t>
            </a:r>
            <a:endParaRPr lang="en-US" sz="2600" dirty="0"/>
          </a:p>
        </p:txBody>
      </p:sp>
      <p:sp>
        <p:nvSpPr>
          <p:cNvPr id="16" name="Text 27"/>
          <p:cNvSpPr txBox="1"/>
          <p:nvPr/>
        </p:nvSpPr>
        <p:spPr>
          <a:xfrm>
            <a:off x="8247888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failed contracts</a:t>
            </a:r>
            <a:endParaRPr lang="en-US" sz="1200" dirty="0"/>
          </a:p>
        </p:txBody>
      </p:sp>
      <p:sp>
        <p:nvSpPr>
          <p:cNvPr id="17" name="Card 28"/>
          <p:cNvSpPr/>
          <p:nvPr/>
        </p:nvSpPr>
        <p:spPr>
          <a:xfrm>
            <a:off x="10003536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8" name="Text 29"/>
          <p:cNvSpPr txBox="1"/>
          <p:nvPr/>
        </p:nvSpPr>
        <p:spPr>
          <a:xfrm>
            <a:off x="10003536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</a:t>
            </a:r>
            <a:endParaRPr lang="en-US" sz="2600" dirty="0"/>
          </a:p>
        </p:txBody>
      </p:sp>
      <p:sp>
        <p:nvSpPr>
          <p:cNvPr id="19" name="Text 30"/>
          <p:cNvSpPr txBox="1"/>
          <p:nvPr/>
        </p:nvSpPr>
        <p:spPr>
          <a:xfrm>
            <a:off x="10003536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features</a:t>
            </a:r>
            <a:endParaRPr lang="en-US" sz="1200" dirty="0"/>
          </a:p>
        </p:txBody>
      </p:sp>
      <p:sp>
        <p:nvSpPr>
          <p:cNvPr id="20" name="Text 31"/>
          <p:cNvSpPr txBox="1"/>
          <p:nvPr/>
        </p:nvSpPr>
        <p:spPr>
          <a:xfrm>
            <a:off x="649224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Chronological split, no shuffling</a:t>
            </a:r>
            <a:endParaRPr lang="en-US" sz="1600" dirty="0"/>
          </a:p>
        </p:txBody>
      </p:sp>
      <p:sp>
        <p:nvSpPr>
          <p:cNvPr id="21" name="Split 32"/>
          <p:cNvSpPr/>
          <p:nvPr/>
        </p:nvSpPr>
        <p:spPr>
          <a:xfrm>
            <a:off x="6492240" y="3383280"/>
            <a:ext cx="3789274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33"/>
          <p:cNvSpPr txBox="1"/>
          <p:nvPr/>
        </p:nvSpPr>
        <p:spPr>
          <a:xfrm>
            <a:off x="6492240" y="3383280"/>
            <a:ext cx="378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74 %</a:t>
            </a:r>
            <a:endParaRPr lang="en-US" sz="1400" dirty="0"/>
          </a:p>
        </p:txBody>
      </p:sp>
      <p:sp>
        <p:nvSpPr>
          <p:cNvPr id="23" name="Split 34"/>
          <p:cNvSpPr/>
          <p:nvPr/>
        </p:nvSpPr>
        <p:spPr>
          <a:xfrm>
            <a:off x="10281514" y="3383280"/>
            <a:ext cx="768096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Text 35"/>
          <p:cNvSpPr txBox="1"/>
          <p:nvPr/>
        </p:nvSpPr>
        <p:spPr>
          <a:xfrm>
            <a:off x="10281514" y="338328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15 %</a:t>
            </a:r>
            <a:endParaRPr lang="en-US" sz="1400" dirty="0"/>
          </a:p>
        </p:txBody>
      </p:sp>
      <p:sp>
        <p:nvSpPr>
          <p:cNvPr id="25" name="Split 36"/>
          <p:cNvSpPr/>
          <p:nvPr/>
        </p:nvSpPr>
        <p:spPr>
          <a:xfrm>
            <a:off x="11049610" y="3383280"/>
            <a:ext cx="56327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37"/>
          <p:cNvSpPr txBox="1"/>
          <p:nvPr/>
        </p:nvSpPr>
        <p:spPr>
          <a:xfrm>
            <a:off x="11049610" y="3383280"/>
            <a:ext cx="563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11 %</a:t>
            </a:r>
            <a:endParaRPr lang="en-US" sz="1400" dirty="0"/>
          </a:p>
        </p:txBody>
      </p:sp>
      <p:sp>
        <p:nvSpPr>
          <p:cNvPr id="27" name="Text 38"/>
          <p:cNvSpPr txBox="1"/>
          <p:nvPr/>
        </p:nvSpPr>
        <p:spPr>
          <a:xfrm>
            <a:off x="649224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Train: 1 Jan – 29 Feb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Validation: 1–15 Mar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Test: 16–31 Mar</a:t>
            </a:r>
            <a:endParaRPr lang="en-US" sz="1200" dirty="0"/>
          </a:p>
        </p:txBody>
      </p:sp>
      <p:sp>
        <p:nvSpPr>
          <p:cNvPr id="28" name="Card 39"/>
          <p:cNvSpPr/>
          <p:nvPr/>
        </p:nvSpPr>
        <p:spPr>
          <a:xfrm>
            <a:off x="6492240" y="4526280"/>
            <a:ext cx="248716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9" name="Text 40"/>
          <p:cNvSpPr txBox="1"/>
          <p:nvPr/>
        </p:nvSpPr>
        <p:spPr>
          <a:xfrm>
            <a:off x="6675120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×10</a:t>
            </a:r>
            <a:endParaRPr lang="en-US" sz="2200" dirty="0"/>
          </a:p>
        </p:txBody>
      </p:sp>
      <p:sp>
        <p:nvSpPr>
          <p:cNvPr id="30" name="Text 41"/>
          <p:cNvSpPr txBox="1"/>
          <p:nvPr/>
        </p:nvSpPr>
        <p:spPr>
          <a:xfrm>
            <a:off x="6675120" y="51206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failure rate from the cheapest to the most expensive value decile (1.5 % → 16.5 %)</a:t>
            </a:r>
            <a:endParaRPr lang="en-US" sz="1200" dirty="0"/>
          </a:p>
        </p:txBody>
      </p:sp>
      <p:sp>
        <p:nvSpPr>
          <p:cNvPr id="31" name="Card 42"/>
          <p:cNvSpPr/>
          <p:nvPr/>
        </p:nvSpPr>
        <p:spPr>
          <a:xfrm>
            <a:off x="9125712" y="4526280"/>
            <a:ext cx="248716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2" name="Text 43"/>
          <p:cNvSpPr txBox="1"/>
          <p:nvPr/>
        </p:nvSpPr>
        <p:spPr>
          <a:xfrm>
            <a:off x="9308592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9 % vs 3 %</a:t>
            </a:r>
            <a:endParaRPr lang="en-US" sz="2200" dirty="0"/>
          </a:p>
        </p:txBody>
      </p:sp>
      <p:sp>
        <p:nvSpPr>
          <p:cNvPr id="33" name="Text 44"/>
          <p:cNvSpPr txBox="1"/>
          <p:nvPr/>
        </p:nvSpPr>
        <p:spPr>
          <a:xfrm>
            <a:off x="9308592" y="51206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requests for quotations vs single-source purchases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Baseline: class-weighted logistic regression</a:t>
            </a:r>
            <a:endParaRPr lang="en-US" sz="3200" dirty="0"/>
          </a:p>
        </p:txBody>
      </p:sp>
      <p:sp>
        <p:nvSpPr>
          <p:cNvPr id="3" name="Card 45"/>
          <p:cNvSpPr/>
          <p:nvPr/>
        </p:nvSpPr>
        <p:spPr>
          <a:xfrm>
            <a:off x="548640" y="1463040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4" name="Text 46"/>
          <p:cNvSpPr txBox="1"/>
          <p:nvPr/>
        </p:nvSpPr>
        <p:spPr>
          <a:xfrm>
            <a:off x="77724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5" name="Text 47"/>
          <p:cNvSpPr txBox="1"/>
          <p:nvPr/>
        </p:nvSpPr>
        <p:spPr>
          <a:xfrm>
            <a:off x="777240" y="19202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 imputation + missing flags, scaling, one-hot encoding; fitted on train only</a:t>
            </a:r>
            <a:endParaRPr lang="en-US" sz="1400" dirty="0"/>
          </a:p>
        </p:txBody>
      </p:sp>
      <p:sp>
        <p:nvSpPr>
          <p:cNvPr id="6" name="Arrow 48"/>
          <p:cNvSpPr/>
          <p:nvPr/>
        </p:nvSpPr>
        <p:spPr>
          <a:xfrm>
            <a:off x="3154680" y="2532888"/>
            <a:ext cx="274320" cy="20116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7" name="Card 49"/>
          <p:cNvSpPr/>
          <p:nvPr/>
        </p:nvSpPr>
        <p:spPr>
          <a:xfrm>
            <a:off x="548640" y="2761488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accent2"/>
          </a:solidFill>
          <a:ln/>
        </p:spPr>
      </p:sp>
      <p:sp>
        <p:nvSpPr>
          <p:cNvPr id="8" name="Text 50"/>
          <p:cNvSpPr txBox="1"/>
          <p:nvPr/>
        </p:nvSpPr>
        <p:spPr>
          <a:xfrm>
            <a:off x="777240" y="28712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9" name="Text 51"/>
          <p:cNvSpPr txBox="1"/>
          <p:nvPr/>
        </p:nvSpPr>
        <p:spPr>
          <a:xfrm>
            <a:off x="777240" y="321868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L2 penalty, C = 1, class_weight = balanced, solver lbfgs</a:t>
            </a:r>
            <a:endParaRPr lang="en-US" sz="1400" dirty="0"/>
          </a:p>
        </p:txBody>
      </p:sp>
      <p:sp>
        <p:nvSpPr>
          <p:cNvPr id="10" name="Arrow 52"/>
          <p:cNvSpPr/>
          <p:nvPr/>
        </p:nvSpPr>
        <p:spPr>
          <a:xfrm>
            <a:off x="3154680" y="3831336"/>
            <a:ext cx="274320" cy="20116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1" name="Card 53"/>
          <p:cNvSpPr/>
          <p:nvPr/>
        </p:nvSpPr>
        <p:spPr>
          <a:xfrm>
            <a:off x="548640" y="4059936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12" name="Text 54"/>
          <p:cNvSpPr txBox="1"/>
          <p:nvPr/>
        </p:nvSpPr>
        <p:spPr>
          <a:xfrm>
            <a:off x="777240" y="41696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Risk score 0–1</a:t>
            </a:r>
            <a:endParaRPr lang="en-US" sz="1600" dirty="0"/>
          </a:p>
        </p:txBody>
      </p:sp>
      <p:sp>
        <p:nvSpPr>
          <p:cNvPr id="13" name="Text 55"/>
          <p:cNvSpPr txBox="1"/>
          <p:nvPr/>
        </p:nvSpPr>
        <p:spPr>
          <a:xfrm>
            <a:off x="777240" y="451713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Ranks procurements; decision threshold tuned on validation</a:t>
            </a:r>
            <a:endParaRPr lang="en-US" sz="1400" dirty="0"/>
          </a:p>
        </p:txBody>
      </p:sp>
      <p:sp>
        <p:nvSpPr>
          <p:cNvPr id="14" name="Text 56"/>
          <p:cNvSpPr txBox="1"/>
          <p:nvPr/>
        </p:nvSpPr>
        <p:spPr>
          <a:xfrm>
            <a:off x="54864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266,294 procurements (Jan–Feb) · 20 features → 52 inputs · converged in 75 iterations · 1 second</a:t>
            </a:r>
            <a:endParaRPr lang="en-US" sz="1400" dirty="0"/>
          </a:p>
        </p:txBody>
      </p:sp>
      <p:sp>
        <p:nvSpPr>
          <p:cNvPr id="15" name="Text 57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model</a:t>
            </a:r>
            <a:endParaRPr lang="en-US" sz="2000" dirty="0"/>
          </a:p>
        </p:txBody>
      </p:sp>
      <p:sp>
        <p:nvSpPr>
          <p:cNvPr id="16" name="Badge 58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59"/>
          <p:cNvSpPr txBox="1"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60"/>
          <p:cNvSpPr txBox="1"/>
          <p:nvPr/>
        </p:nvSpPr>
        <p:spPr>
          <a:xfrm>
            <a:off x="7040880" y="1938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Outputs a probability, so procurements can be ranked for inspection</a:t>
            </a:r>
            <a:endParaRPr lang="en-US" sz="1400" dirty="0"/>
          </a:p>
        </p:txBody>
      </p:sp>
      <p:sp>
        <p:nvSpPr>
          <p:cNvPr id="19" name="Badge 61"/>
          <p:cNvSpPr/>
          <p:nvPr/>
        </p:nvSpPr>
        <p:spPr>
          <a:xfrm>
            <a:off x="6492240" y="2679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62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63"/>
          <p:cNvSpPr txBox="1"/>
          <p:nvPr/>
        </p:nvSpPr>
        <p:spPr>
          <a:xfrm>
            <a:off x="704088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Readable coefficients: the model can be checked against the EDA</a:t>
            </a:r>
            <a:endParaRPr lang="en-US" sz="1400" dirty="0"/>
          </a:p>
        </p:txBody>
      </p:sp>
      <p:sp>
        <p:nvSpPr>
          <p:cNvPr id="22" name="Badge 64"/>
          <p:cNvSpPr/>
          <p:nvPr/>
        </p:nvSpPr>
        <p:spPr>
          <a:xfrm>
            <a:off x="6492240" y="33924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65"/>
          <p:cNvSpPr txBox="1"/>
          <p:nvPr/>
        </p:nvSpPr>
        <p:spPr>
          <a:xfrm>
            <a:off x="6492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66"/>
          <p:cNvSpPr txBox="1"/>
          <p:nvPr/>
        </p:nvSpPr>
        <p:spPr>
          <a:xfrm>
            <a:off x="7040880" y="3364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weights handle the 1 : 14 imbalance without resampling</a:t>
            </a:r>
            <a:endParaRPr lang="en-US" sz="1400" dirty="0"/>
          </a:p>
        </p:txBody>
      </p:sp>
      <p:sp>
        <p:nvSpPr>
          <p:cNvPr id="25" name="Badge 67"/>
          <p:cNvSpPr/>
          <p:nvPr/>
        </p:nvSpPr>
        <p:spPr>
          <a:xfrm>
            <a:off x="6492240" y="4105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68"/>
          <p:cNvSpPr txBox="1"/>
          <p:nvPr/>
        </p:nvSpPr>
        <p:spPr>
          <a:xfrm>
            <a:off x="64922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69"/>
          <p:cNvSpPr txBox="1"/>
          <p:nvPr/>
        </p:nvSpPr>
        <p:spPr>
          <a:xfrm>
            <a:off x="7040880" y="40782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Trains in 1 s on 266 K rows and works on sparse text features</a:t>
            </a:r>
            <a:endParaRPr lang="en-US" sz="1400" dirty="0"/>
          </a:p>
        </p:txBody>
      </p:sp>
      <p:sp>
        <p:nvSpPr>
          <p:cNvPr id="28" name="Text 70"/>
          <p:cNvSpPr txBox="1"/>
          <p:nvPr/>
        </p:nvSpPr>
        <p:spPr>
          <a:xfrm>
            <a:off x="649224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Not the baseline (yet)</a:t>
            </a:r>
            <a:endParaRPr lang="en-US" sz="1600" dirty="0"/>
          </a:p>
        </p:txBody>
      </p:sp>
      <p:sp>
        <p:nvSpPr>
          <p:cNvPr id="29" name="Text 71"/>
          <p:cNvSpPr txBox="1"/>
          <p:nvPr/>
        </p:nvSpPr>
        <p:spPr>
          <a:xfrm>
            <a:off x="649224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Gradient boosting, transformer: planned for A3, they need a baseline to beat. Kernel SVM, kNN: do not scale to 266 K rows. Naive Bayes: features are strongly correlated.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Metrics: why accuracy is the wrong yardstick</a:t>
            </a:r>
            <a:endParaRPr lang="en-US" sz="3200" dirty="0"/>
          </a:p>
        </p:txBody>
      </p:sp>
      <p:sp>
        <p:nvSpPr>
          <p:cNvPr id="3" name="Card 72"/>
          <p:cNvSpPr/>
          <p:nvPr/>
        </p:nvSpPr>
        <p:spPr>
          <a:xfrm>
            <a:off x="548640" y="1463040"/>
            <a:ext cx="3931920" cy="466344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4" name="Text 73"/>
          <p:cNvSpPr txBox="1"/>
          <p:nvPr/>
        </p:nvSpPr>
        <p:spPr>
          <a:xfrm>
            <a:off x="82296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93.4 %</a:t>
            </a:r>
            <a:endParaRPr lang="en-US" sz="5400" dirty="0"/>
          </a:p>
        </p:txBody>
      </p:sp>
      <p:sp>
        <p:nvSpPr>
          <p:cNvPr id="5" name="Text 74"/>
          <p:cNvSpPr txBox="1"/>
          <p:nvPr/>
        </p:nvSpPr>
        <p:spPr>
          <a:xfrm>
            <a:off x="82296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 of a “model” that flags nobody</a:t>
            </a:r>
            <a:endParaRPr lang="en-US" sz="1600" dirty="0"/>
          </a:p>
        </p:txBody>
      </p:sp>
      <p:sp>
        <p:nvSpPr>
          <p:cNvPr id="6" name="Text 75"/>
          <p:cNvSpPr txBox="1"/>
          <p:nvPr/>
        </p:nvSpPr>
        <p:spPr>
          <a:xfrm>
            <a:off x="82296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…and finds 0 failed contracts</a:t>
            </a:r>
            <a:endParaRPr lang="en-US" sz="1600" dirty="0"/>
          </a:p>
        </p:txBody>
      </p:sp>
      <p:sp>
        <p:nvSpPr>
          <p:cNvPr id="7" name="Text 76"/>
          <p:cNvSpPr txBox="1"/>
          <p:nvPr/>
        </p:nvSpPr>
        <p:spPr>
          <a:xfrm>
            <a:off x="822960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With only 6.6 % failures, accuracy rewards doing nothing. Our useful models score lower, about 0.89, because they dare to flag.</a:t>
            </a:r>
            <a:endParaRPr lang="en-US" sz="1600" dirty="0"/>
          </a:p>
        </p:txBody>
      </p:sp>
      <p:sp>
        <p:nvSpPr>
          <p:cNvPr id="8" name="Card 77"/>
          <p:cNvSpPr/>
          <p:nvPr/>
        </p:nvSpPr>
        <p:spPr>
          <a:xfrm>
            <a:off x="4800600" y="146304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Text 78"/>
          <p:cNvSpPr txBox="1"/>
          <p:nvPr/>
        </p:nvSpPr>
        <p:spPr>
          <a:xfrm>
            <a:off x="502920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ROC-AUC</a:t>
            </a:r>
            <a:endParaRPr lang="en-US" sz="1800" dirty="0"/>
          </a:p>
        </p:txBody>
      </p:sp>
      <p:sp>
        <p:nvSpPr>
          <p:cNvPr id="10" name="Text 79"/>
          <p:cNvSpPr txBox="1"/>
          <p:nvPr/>
        </p:nvSpPr>
        <p:spPr>
          <a:xfrm>
            <a:off x="6903720" y="164592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0.79</a:t>
            </a:r>
            <a:endParaRPr lang="en-US" sz="2200" dirty="0"/>
          </a:p>
        </p:txBody>
      </p:sp>
      <p:sp>
        <p:nvSpPr>
          <p:cNvPr id="11" name="Text 80"/>
          <p:cNvSpPr txBox="1"/>
          <p:nvPr/>
        </p:nvSpPr>
        <p:spPr>
          <a:xfrm>
            <a:off x="5029200" y="21945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Chance that a failed contract is scored above a successful one. Threshold-free, independent of class ratio.</a:t>
            </a:r>
            <a:endParaRPr lang="en-US" sz="1600" dirty="0"/>
          </a:p>
        </p:txBody>
      </p:sp>
      <p:sp>
        <p:nvSpPr>
          <p:cNvPr id="12" name="Card 81"/>
          <p:cNvSpPr/>
          <p:nvPr/>
        </p:nvSpPr>
        <p:spPr>
          <a:xfrm>
            <a:off x="8275320" y="146304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 82"/>
          <p:cNvSpPr txBox="1"/>
          <p:nvPr/>
        </p:nvSpPr>
        <p:spPr>
          <a:xfrm>
            <a:off x="850392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PR-AUC</a:t>
            </a:r>
            <a:endParaRPr lang="en-US" sz="1800" dirty="0"/>
          </a:p>
        </p:txBody>
      </p:sp>
      <p:sp>
        <p:nvSpPr>
          <p:cNvPr id="14" name="Text 83"/>
          <p:cNvSpPr txBox="1"/>
          <p:nvPr/>
        </p:nvSpPr>
        <p:spPr>
          <a:xfrm>
            <a:off x="10378440" y="164592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0.26</a:t>
            </a:r>
            <a:endParaRPr lang="en-US" sz="2200" dirty="0"/>
          </a:p>
        </p:txBody>
      </p:sp>
      <p:sp>
        <p:nvSpPr>
          <p:cNvPr id="15" name="Text 84"/>
          <p:cNvSpPr txBox="1"/>
          <p:nvPr/>
        </p:nvSpPr>
        <p:spPr>
          <a:xfrm>
            <a:off x="8503920" y="21945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precision over all recall levels. Random = 0.066, so 0.26 is 4× better. Most honest under imbalance.</a:t>
            </a:r>
            <a:endParaRPr lang="en-US" sz="1600" dirty="0"/>
          </a:p>
        </p:txBody>
      </p:sp>
      <p:sp>
        <p:nvSpPr>
          <p:cNvPr id="16" name="Card 85"/>
          <p:cNvSpPr/>
          <p:nvPr/>
        </p:nvSpPr>
        <p:spPr>
          <a:xfrm>
            <a:off x="4800600" y="388620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7" name="Text 86"/>
          <p:cNvSpPr txBox="1"/>
          <p:nvPr/>
        </p:nvSpPr>
        <p:spPr>
          <a:xfrm>
            <a:off x="502920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</a:t>
            </a:r>
            <a:endParaRPr lang="en-US" sz="1800" dirty="0"/>
          </a:p>
        </p:txBody>
      </p:sp>
      <p:sp>
        <p:nvSpPr>
          <p:cNvPr id="18" name="Text 87"/>
          <p:cNvSpPr txBox="1"/>
          <p:nvPr/>
        </p:nvSpPr>
        <p:spPr>
          <a:xfrm>
            <a:off x="6903720" y="406908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0.32</a:t>
            </a:r>
            <a:endParaRPr lang="en-US" sz="2200" dirty="0"/>
          </a:p>
        </p:txBody>
      </p:sp>
      <p:sp>
        <p:nvSpPr>
          <p:cNvPr id="19" name="Text 88"/>
          <p:cNvSpPr txBox="1"/>
          <p:nvPr/>
        </p:nvSpPr>
        <p:spPr>
          <a:xfrm>
            <a:off x="5029200" y="46177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Balance of precision (0.26) and recall (0.42) at one threshold, tuned on validation only.</a:t>
            </a:r>
            <a:endParaRPr lang="en-US" sz="1600" dirty="0"/>
          </a:p>
        </p:txBody>
      </p:sp>
      <p:sp>
        <p:nvSpPr>
          <p:cNvPr id="20" name="Card 89"/>
          <p:cNvSpPr/>
          <p:nvPr/>
        </p:nvSpPr>
        <p:spPr>
          <a:xfrm>
            <a:off x="8275320" y="388620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1" name="Text 90"/>
          <p:cNvSpPr txBox="1"/>
          <p:nvPr/>
        </p:nvSpPr>
        <p:spPr>
          <a:xfrm>
            <a:off x="850392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Precision@1 %</a:t>
            </a:r>
            <a:endParaRPr lang="en-US" sz="1800" dirty="0"/>
          </a:p>
        </p:txBody>
      </p:sp>
      <p:sp>
        <p:nvSpPr>
          <p:cNvPr id="22" name="Text 91"/>
          <p:cNvSpPr txBox="1"/>
          <p:nvPr/>
        </p:nvSpPr>
        <p:spPr>
          <a:xfrm>
            <a:off x="10378440" y="406908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0.50</a:t>
            </a:r>
            <a:endParaRPr lang="en-US" sz="2200" dirty="0"/>
          </a:p>
        </p:txBody>
      </p:sp>
      <p:sp>
        <p:nvSpPr>
          <p:cNvPr id="23" name="Text 92"/>
          <p:cNvSpPr txBox="1"/>
          <p:nvPr/>
        </p:nvSpPr>
        <p:spPr>
          <a:xfrm>
            <a:off x="8503920" y="46177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Quality of the top of the list: matches the auditor's limited inspection capacity.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far better than chance on unseen data</a:t>
            </a:r>
            <a:endParaRPr lang="en-US" sz="3200" dirty="0"/>
          </a:p>
        </p:txBody>
      </p:sp>
      <p:graphicFrame>
        <p:nvGraphicFramePr>
          <p:cNvPr id="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22960"/>
                <a:gridCol w="640080"/>
                <a:gridCol w="77724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(test: 16–31 Mar)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P@1 %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R@5 %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Prior (no model)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0.500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0.066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0.066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0.050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Logistic regression (baseline)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0.792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0.262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0.324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0.504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0.263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0.368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LogReg + lot text (TF-IDF)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adge 93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94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95"/>
          <p:cNvSpPr txBox="1"/>
          <p:nvPr/>
        </p:nvSpPr>
        <p:spPr>
          <a:xfrm>
            <a:off x="1097280" y="4123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Stable: ROC-AUC 0.794 on validation, 0.792 on test</a:t>
            </a:r>
            <a:endParaRPr lang="en-US" sz="1400" dirty="0"/>
          </a:p>
        </p:txBody>
      </p:sp>
      <p:sp>
        <p:nvSpPr>
          <p:cNvPr id="7" name="Badge 96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97"/>
          <p:cNvSpPr txBox="1"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98"/>
          <p:cNvSpPr txBox="1"/>
          <p:nvPr/>
        </p:nvSpPr>
        <p:spPr>
          <a:xfrm>
            <a:off x="1097280" y="47823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Non-linearity matters: random forest gains +0.04 PR-AUC with the same features</a:t>
            </a:r>
            <a:endParaRPr lang="en-US" sz="1400" dirty="0"/>
          </a:p>
        </p:txBody>
      </p:sp>
      <p:sp>
        <p:nvSpPr>
          <p:cNvPr id="10" name="Badge 99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100"/>
          <p:cNvSpPr txBox="1"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1"/>
          <p:cNvSpPr txBox="1"/>
          <p:nvPr/>
        </p:nvSpPr>
        <p:spPr>
          <a:xfrm>
            <a:off x="1097280" y="5440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Lot text adds a little: +0.02 PR-AUC</a:t>
            </a:r>
            <a:endParaRPr lang="en-US" sz="1400" dirty="0"/>
          </a:p>
        </p:txBody>
      </p:sp>
      <p:pic>
        <p:nvPicPr>
          <p:cNvPr id="13" name="Gain chart" descr="Cumulative gain chart: the baseline finds 26 % of failures in the top 5 % and 60 % in the top 20 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71600"/>
            <a:ext cx="4480560" cy="3657600"/>
          </a:xfrm>
          <a:prstGeom prst="rect">
            <a:avLst/>
          </a:prstGeom>
        </p:spPr>
      </p:pic>
      <p:sp>
        <p:nvSpPr>
          <p:cNvPr id="14" name="Card 102"/>
          <p:cNvSpPr/>
          <p:nvPr/>
        </p:nvSpPr>
        <p:spPr>
          <a:xfrm>
            <a:off x="7178040" y="5166360"/>
            <a:ext cx="448056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/>
        </p:spPr>
      </p:sp>
      <p:sp>
        <p:nvSpPr>
          <p:cNvPr id="15" name="Text 103"/>
          <p:cNvSpPr txBox="1"/>
          <p:nvPr/>
        </p:nvSpPr>
        <p:spPr>
          <a:xfrm>
            <a:off x="7360920" y="51663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Inspect the top 5 % → find 26 % of failures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Top 20 % → 60 %. At random: 5 % and 20 %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baseline fails</a:t>
            </a:r>
            <a:endParaRPr lang="en-US" sz="3200" dirty="0"/>
          </a:p>
        </p:txBody>
      </p:sp>
      <p:pic>
        <p:nvPicPr>
          <p:cNvPr id="3" name="Method chart" descr="ROC-AUC of the baseline inside each procurement meth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429000"/>
          </a:xfrm>
          <a:prstGeom prst="rect">
            <a:avLst/>
          </a:prstGeom>
        </p:spPr>
      </p:pic>
      <p:pic>
        <p:nvPicPr>
          <p:cNvPr id="4" name="Value chart" descr="Recall of the baseline by procurement value quart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4800600" cy="3429000"/>
          </a:xfrm>
          <a:prstGeom prst="rect">
            <a:avLst/>
          </a:prstGeom>
        </p:spPr>
      </p:pic>
      <p:sp>
        <p:nvSpPr>
          <p:cNvPr id="5" name="Card 104"/>
          <p:cNvSpPr/>
          <p:nvPr/>
        </p:nvSpPr>
        <p:spPr>
          <a:xfrm>
            <a:off x="54864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105"/>
          <p:cNvSpPr txBox="1"/>
          <p:nvPr/>
        </p:nvSpPr>
        <p:spPr>
          <a:xfrm>
            <a:off x="73152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method only</a:t>
            </a:r>
            <a:endParaRPr lang="en-US" sz="1600" dirty="0"/>
          </a:p>
        </p:txBody>
      </p:sp>
      <p:sp>
        <p:nvSpPr>
          <p:cNvPr id="7" name="Text 106"/>
          <p:cNvSpPr txBox="1"/>
          <p:nvPr/>
        </p:nvSpPr>
        <p:spPr>
          <a:xfrm>
            <a:off x="73152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Good ranking inside requests for quotations (0.80), near random in the small tender types</a:t>
            </a:r>
            <a:endParaRPr lang="en-US" sz="1400" dirty="0"/>
          </a:p>
        </p:txBody>
      </p:sp>
      <p:sp>
        <p:nvSpPr>
          <p:cNvPr id="8" name="Card 107"/>
          <p:cNvSpPr/>
          <p:nvPr/>
        </p:nvSpPr>
        <p:spPr>
          <a:xfrm>
            <a:off x="429768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xt 108"/>
          <p:cNvSpPr txBox="1"/>
          <p:nvPr/>
        </p:nvSpPr>
        <p:spPr>
          <a:xfrm>
            <a:off x="448056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Blind to cheap purchases</a:t>
            </a:r>
            <a:endParaRPr lang="en-US" sz="1600" dirty="0"/>
          </a:p>
        </p:txBody>
      </p:sp>
      <p:sp>
        <p:nvSpPr>
          <p:cNvPr id="10" name="Text 109"/>
          <p:cNvSpPr txBox="1"/>
          <p:nvPr/>
        </p:nvSpPr>
        <p:spPr>
          <a:xfrm>
            <a:off x="448056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0 % of failures caught in the cheapest quartile, 64 % in the most expensive</a:t>
            </a:r>
            <a:endParaRPr lang="en-US" sz="1400" dirty="0"/>
          </a:p>
        </p:txBody>
      </p:sp>
      <p:sp>
        <p:nvSpPr>
          <p:cNvPr id="11" name="Card 110"/>
          <p:cNvSpPr/>
          <p:nvPr/>
        </p:nvSpPr>
        <p:spPr>
          <a:xfrm>
            <a:off x="804672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11"/>
          <p:cNvSpPr txBox="1"/>
          <p:nvPr/>
        </p:nvSpPr>
        <p:spPr>
          <a:xfrm>
            <a:off x="822960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Scores are not probabilities</a:t>
            </a:r>
            <a:endParaRPr lang="en-US" sz="1600" dirty="0"/>
          </a:p>
        </p:txBody>
      </p:sp>
      <p:sp>
        <p:nvSpPr>
          <p:cNvPr id="13" name="Text 112"/>
          <p:cNvSpPr txBox="1"/>
          <p:nvPr/>
        </p:nvSpPr>
        <p:spPr>
          <a:xfrm>
            <a:off x="822960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 weighting inflates them: mean score 0.42 vs real rate 0.07. Ranking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Conclusions and next stage</a:t>
            </a:r>
            <a:endParaRPr lang="en-US" sz="3200" dirty="0"/>
          </a:p>
        </p:txBody>
      </p:sp>
      <p:sp>
        <p:nvSpPr>
          <p:cNvPr id="3" name="Text 113"/>
          <p:cNvSpPr txBox="1"/>
          <p:nvPr/>
        </p:nvSpPr>
        <p:spPr>
          <a:xfrm>
            <a:off x="54864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THE FIRST EXPERIMENT SHOWED</a:t>
            </a:r>
            <a:endParaRPr lang="en-US" sz="1200" dirty="0"/>
          </a:p>
        </p:txBody>
      </p:sp>
      <p:sp>
        <p:nvSpPr>
          <p:cNvPr id="4" name="Text 114"/>
          <p:cNvSpPr txBox="1"/>
          <p:nvPr/>
        </p:nvSpPr>
        <p:spPr>
          <a:xfrm>
            <a:off x="548640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0.79</a:t>
            </a:r>
            <a:endParaRPr lang="en-US" sz="4000" dirty="0"/>
          </a:p>
        </p:txBody>
      </p:sp>
      <p:sp>
        <p:nvSpPr>
          <p:cNvPr id="5" name="Text 115"/>
          <p:cNvSpPr txBox="1"/>
          <p:nvPr/>
        </p:nvSpPr>
        <p:spPr>
          <a:xfrm>
            <a:off x="2103120" y="1920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ROC-AUC on unseen March data: award-time information does predict contract failure</a:t>
            </a:r>
            <a:endParaRPr lang="en-US" sz="1400" dirty="0"/>
          </a:p>
        </p:txBody>
      </p:sp>
      <p:sp>
        <p:nvSpPr>
          <p:cNvPr id="6" name="Text 116"/>
          <p:cNvSpPr txBox="1"/>
          <p:nvPr/>
        </p:nvSpPr>
        <p:spPr>
          <a:xfrm>
            <a:off x="548640" y="3108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5×</a:t>
            </a:r>
            <a:endParaRPr lang="en-US" sz="4000" dirty="0"/>
          </a:p>
        </p:txBody>
      </p:sp>
      <p:sp>
        <p:nvSpPr>
          <p:cNvPr id="7" name="Text 117"/>
          <p:cNvSpPr txBox="1"/>
          <p:nvPr/>
        </p:nvSpPr>
        <p:spPr>
          <a:xfrm>
            <a:off x="210312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better than random inspection: the top 5 % of the list holds 26 % of all failures</a:t>
            </a:r>
            <a:endParaRPr lang="en-US" sz="1400" dirty="0"/>
          </a:p>
        </p:txBody>
      </p:sp>
      <p:sp>
        <p:nvSpPr>
          <p:cNvPr id="8" name="Text 118"/>
          <p:cNvSpPr txBox="1"/>
          <p:nvPr/>
        </p:nvSpPr>
        <p:spPr>
          <a:xfrm>
            <a:off x="548640" y="4297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0.83</a:t>
            </a:r>
            <a:endParaRPr lang="en-US" sz="4000" dirty="0"/>
          </a:p>
        </p:txBody>
      </p:sp>
      <p:sp>
        <p:nvSpPr>
          <p:cNvPr id="9" name="Text 119"/>
          <p:cNvSpPr txBox="1"/>
          <p:nvPr/>
        </p:nvSpPr>
        <p:spPr>
          <a:xfrm>
            <a:off x="210312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ROC-AUC for the strict failure label: the signal is not label noise</a:t>
            </a:r>
            <a:endParaRPr lang="en-US" sz="1400" dirty="0"/>
          </a:p>
        </p:txBody>
      </p:sp>
      <p:sp>
        <p:nvSpPr>
          <p:cNvPr id="10" name="Text 120"/>
          <p:cNvSpPr txBox="1"/>
          <p:nvPr/>
        </p:nvSpPr>
        <p:spPr>
          <a:xfrm>
            <a:off x="548640" y="5532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Limits: a linear model, one quarter of data, no supplier track record, uncalibrated scores.</a:t>
            </a:r>
            <a:endParaRPr lang="en-US" sz="1400" dirty="0"/>
          </a:p>
        </p:txBody>
      </p:sp>
      <p:sp>
        <p:nvSpPr>
          <p:cNvPr id="11" name="Card 121"/>
          <p:cNvSpPr/>
          <p:nvPr/>
        </p:nvSpPr>
        <p:spPr>
          <a:xfrm>
            <a:off x="6583680" y="1463040"/>
            <a:ext cx="5029200" cy="4709160"/>
          </a:xfrm>
          <a:prstGeom prst="roundRect">
            <a:avLst>
              <a:gd name="adj" fmla="val 1553"/>
            </a:avLst>
          </a:prstGeom>
          <a:solidFill>
            <a:schemeClr val="tx2"/>
          </a:solidFill>
          <a:ln/>
        </p:spPr>
      </p:sp>
      <p:sp>
        <p:nvSpPr>
          <p:cNvPr id="12" name="Text 122"/>
          <p:cNvSpPr txBox="1"/>
          <p:nvPr/>
        </p:nvSpPr>
        <p:spPr>
          <a:xfrm>
            <a:off x="685800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NEXT STAGE · ASSIGNMENT 3</a:t>
            </a:r>
            <a:endParaRPr lang="en-US" sz="1200" dirty="0"/>
          </a:p>
        </p:txBody>
      </p:sp>
      <p:sp>
        <p:nvSpPr>
          <p:cNvPr id="13" name="Badge 123"/>
          <p:cNvSpPr/>
          <p:nvPr/>
        </p:nvSpPr>
        <p:spPr>
          <a:xfrm>
            <a:off x="6858000" y="2331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4"/>
          <p:cNvSpPr txBox="1"/>
          <p:nvPr/>
        </p:nvSpPr>
        <p:spPr>
          <a:xfrm>
            <a:off x="68580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25"/>
          <p:cNvSpPr txBox="1"/>
          <p:nvPr/>
        </p:nvSpPr>
        <p:spPr>
          <a:xfrm>
            <a:off x="7406640" y="22402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Gradient boosting (LightGBM / CatBoost) with hyper-parameter optimisation</a:t>
            </a:r>
            <a:endParaRPr lang="en-US" sz="1400" dirty="0"/>
          </a:p>
        </p:txBody>
      </p:sp>
      <p:sp>
        <p:nvSpPr>
          <p:cNvPr id="16" name="Badge 126"/>
          <p:cNvSpPr/>
          <p:nvPr/>
        </p:nvSpPr>
        <p:spPr>
          <a:xfrm>
            <a:off x="6858000" y="32644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27"/>
          <p:cNvSpPr txBox="1"/>
          <p:nvPr/>
        </p:nvSpPr>
        <p:spPr>
          <a:xfrm>
            <a:off x="68580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28"/>
          <p:cNvSpPr txBox="1"/>
          <p:nvPr/>
        </p:nvSpPr>
        <p:spPr>
          <a:xfrm>
            <a:off x="7406640" y="31729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Probability calibration of the risk scores</a:t>
            </a:r>
            <a:endParaRPr lang="en-US" sz="1400" dirty="0"/>
          </a:p>
        </p:txBody>
      </p:sp>
      <p:sp>
        <p:nvSpPr>
          <p:cNvPr id="19" name="Badge 129"/>
          <p:cNvSpPr/>
          <p:nvPr/>
        </p:nvSpPr>
        <p:spPr>
          <a:xfrm>
            <a:off x="6858000" y="41970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30"/>
          <p:cNvSpPr txBox="1"/>
          <p:nvPr/>
        </p:nvSpPr>
        <p:spPr>
          <a:xfrm>
            <a:off x="685800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31"/>
          <p:cNvSpPr txBox="1"/>
          <p:nvPr/>
        </p:nvSpPr>
        <p:spPr>
          <a:xfrm>
            <a:off x="7406640" y="410565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Fine-tuned multilingual transformer on lot names, combined with the tabular model</a:t>
            </a:r>
            <a:endParaRPr lang="en-US" sz="1400" dirty="0"/>
          </a:p>
        </p:txBody>
      </p:sp>
      <p:sp>
        <p:nvSpPr>
          <p:cNvPr id="22" name="Badge 132"/>
          <p:cNvSpPr/>
          <p:nvPr/>
        </p:nvSpPr>
        <p:spPr>
          <a:xfrm>
            <a:off x="6858000" y="5129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33"/>
          <p:cNvSpPr txBox="1"/>
          <p:nvPr/>
        </p:nvSpPr>
        <p:spPr>
          <a:xfrm>
            <a:off x="685800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134"/>
          <p:cNvSpPr txBox="1"/>
          <p:nvPr/>
        </p:nvSpPr>
        <p:spPr>
          <a:xfrm>
            <a:off x="7406640" y="503834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Per-segment evaluation: non-quotation methods and cheap purchases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der Risk">
  <a:themeElements>
    <a:clrScheme name="Tender Risk">
      <a:dk1>
        <a:srgbClr val="1A202C"/>
      </a:dk1>
      <a:lt1>
        <a:srgbClr val="FFFFFF"/>
      </a:lt1>
      <a:dk2>
        <a:srgbClr val="2D3748"/>
      </a:dk2>
      <a:lt2>
        <a:srgbClr val="EDF2F7"/>
      </a:lt2>
      <a:accent1>
        <a:srgbClr val="C53030"/>
      </a:accent1>
      <a:accent2>
        <a:srgbClr val="2B6CB0"/>
      </a:accent2>
      <a:accent3>
        <a:srgbClr val="2F855A"/>
      </a:accent3>
      <a:accent4>
        <a:srgbClr val="B7791F"/>
      </a:accent4>
      <a:accent5>
        <a:srgbClr val="718096"/>
      </a:accent5>
      <a:accent6>
        <a:srgbClr val="1F2A44"/>
      </a:accent6>
      <a:hlink>
        <a:srgbClr val="2B6CB0"/>
      </a:hlink>
      <a:folHlink>
        <a:srgbClr val="718096"/>
      </a:folHlink>
    </a:clrScheme>
    <a:fontScheme name="Tender Ris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— Baseline model: predicting failed procurement contracts</dc:title>
  <dc:subject>PptxGenJS Presentation</dc:subject>
  <dc:creator>Aziz Abdulin</dc:creator>
  <cp:lastModifiedBy>Aziz Abdulin</cp:lastModifiedBy>
  <cp:revision>1</cp:revision>
  <dcterms:created xsi:type="dcterms:W3CDTF">2026-10-10T06:02:50Z</dcterms:created>
  <dcterms:modified xsi:type="dcterms:W3CDTF">2026-10-10T06:02:50Z</dcterms:modified>
</cp:coreProperties>
</file>