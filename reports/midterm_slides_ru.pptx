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Задача и данные" id="{7a298be7-0a39-6b92-88dd-7dba0197b590}">
          <p14:sldIdLst>
            <p14:sldId id="256"/>
            <p14:sldId id="257"/>
          </p14:sldIdLst>
        </p14:section>
        <p14:section name="Базовая модель и метрики" id="{4aef710b-18dd-cee1-67c6-605d218422cd}">
          <p14:sldIdLst>
            <p14:sldId id="258"/>
            <p14:sldId id="259"/>
          </p14:sldIdLst>
        </p14:section>
        <p14:section name="Результаты" id="{568b0a06-8f07-a8c1-dd72-51fa8436d6ed}">
          <p14:sldIdLst>
            <p14:sldId id="260"/>
            <p14:sldId id="261"/>
          </p14:sldIdLst>
        </p14:section>
        <p14:section name="Выводы" id="{6c8a3702-4ab3-b84f-c2a3-25c791c0a298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ЗАДАЧА. Мы предсказываем, сорвётся ли договор по госзакупке: будет расторгнут или вообще не заключён. Прогноз делается в момент, когда победитель уже выбран, но договор ещё не исполнен. Это бинарная классификация: ответ да или нет. Зачем: закупок около 1,8 млн в год, проверить все невозможно, поэтому аудитору нужен список самых рискованных. Цифры справа: 358 789 закупок с известным исходом, из них 6,6% сорвались, то есть на один срыв приходится 14 нормальных договоров.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ДАННЫЕ. Источник: открытые данные портала госзакупок Казахстана, получены через официальный API. Взяты все закупки, опубликованные в январе–марте 2024 года, по которым был заключён договор. Пять связанных таблиц (закупки, лоты, заявки, договоры, реестр) сведены в одну: одна строка = одна закупка. Target: договор расторгнут или не заключён. Признаков 20, и все они известны в момент выбора победителя: это защита от утечки данных. Разбиение по времени: учимся на январе–феврале, порог подбираем на первой половине марта, итог считаем на второй половине марта. Перемешивать нельзя: модель должна предсказывать будущее. Два факта из анализа: риск растёт в 10 раз с ростом суммы закупки, и запрос ценовых предложений срывается втрое чаще закупки из одного источника.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 И ПОЧЕМУ ОН. Модель: логистическая регрессия с весами классов. Схема слева: сначала подготовка (пропуски заполняем медианой, числа приводим к одному масштабу, категории превращаем в столбцы из 0 и 1), потом сама модель, на выходе оценка риска от 0 до 1. Подготовка обучается только на train, чтобы не подглядывать в тест. Почему именно она: 1) выдаёт вероятность, значит закупки можно отсортировать по риску; 2) у каждого признака понятный коэффициент, можно проверить модель здравым смыслом; 3) веса классов решают проблему редких срывов: один срыв весит как 14 обычных договоров; 4) обучается за секунду. Почему не другие: бустинг и нейросеть сильнее, но их надо с чем-то сравнивать, это тема третьего задания. SVM и kNN слишком медленные на 266 тысячах строк. Наивный Байес предполагает независимые признаки, а у нас они сильно связаны.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МЕТРИКИ. Сначала почему не accuracy, то есть не доля правильных ответов. Если всегда отвечать «не сорвётся», получится 93,4% правильных ответов, и при этом ни одного найденного срыва. Поэтому accuracy здесь бесполезна. Мы берём четыре метрики. ROC-AUC: вероятность, что сорванному договору модель поставит оценку выше, чем нормальному; 0,5 это случайность, 1 это идеал; у нас 0,79. PR-AUC: средняя точность по всем уровням полноты; случайный уровень равен доле срывов 0,066, у нас 0,26, то есть в 4 раза лучше; это самая честная метрика при редком классе. F1: баланс между точностью (сколько из помеченных действительно сорвались) и полнотой (сколько срывов мы нашли) при одном пороге; порог подбирали на валидации. Precision@1%: качество самой верхушки списка, потому что аудитор может проверить только малую часть. Числа справа это результат baseline на тесте.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РЕЗУЛЬТАТЫ. Все цифры посчитаны на тесте, это вторая половина марта, модель этих закупок не видела. Строка Prior это отсутствие модели, уровень случайности. Baseline, логистическая регрессия: ROC-AUC 0,79, PR-AUC 0,26. Три вывода слева. Первое: результат устойчив, на валидации и на тесте почти одинаковые цифры, значит это не случайность одного периода. Второе: случайный лес на тех же признаках лучше, значит в данных есть нелинейные зависимости, которые линейная модель не ловит. Третье: текст названий лотов даёт небольшой прирост. График справа самый практичный: если аудитор проверит 5% закупок с самым высоким риском, он найдёт 26% всех срывов, а если 20%, то 60%. При случайном выборе было бы 5% и 20%. P@1% это точность в верхнем 1% списка, R@5% это доля срывов, найденных в верхних 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ГДЕ МОДЕЛЬ ОШИБАЕТСЯ. Это честный разбор слабых мест. Левый график: качество ранжирования внутри каждого способа закупки. Внутри запроса ценовых предложений модель работает хорошо, 0,80. Внутри остальных способов почти случайно, около 0,5. То есть модель в основном научилась отличать один способ от другого и большие суммы от маленьких. Правый график: доля найденных срывов по сумме закупки. В самой дешёвой четверти модель не находит ничего, 0%, а в самой дорогой 64%. Линейная модель умеет говорить только «чем дороже, тем рискованнее» и не видит рискованные дешёвые закупки. Третье: оценки модели нельзя читать как вероятности. Из-за весов классов они завышены: средняя оценка 0,42 при реальной доле срывов 0,07. Для сортировки это не мешает, но показывать человеку «риск 70%» нельзя, нужна калибровка.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ВЫВОДЫ И СЛЕДУЮЩИЙ ЭТАП. Что показал первый эксперимент. Первое: информация, известная в момент выбора победителя, действительно предсказывает срыв договора; даже простая модель даёт ROC-AUC 0,79 на новых данных. Второе: это уже полезно на практике, список модели в 5 раз лучше случайной проверки. Третье: если считать срывом только однозначные случаи (одностороннее расторжение или незаключение), качество даже выше, 0,83, значит модель ловит настоящий сигнал, а не шум в разметке. Ограничения: модель линейная, данные только за один квартал, нет истории поставщика (её нельзя добавить без утечки данных), оценки не откалиброваны. Следующий этап, третье задание: 1) градиентный бустинг с подбором гиперпараметров; 2) калибровка вероятностей; 3) дообучение нейросети-трансформера на текстах лотов и объединение с табличной моделью; 4) проверка по сегментам, улучшилось ли качество именно там, где baseline слаб.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68580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06040"/>
            <a:ext cx="69494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Tender Risk ML · Мидтерм · Базовая модель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1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Tender Risk ML · Мидтерм · Базовая модель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68580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Какие договоры госзакупок сорвутся?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6060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Мидтерм · Базовая модель · Tender Risk ML · Азиз Абдулин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52044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ЗАДАЧА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84048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Бинарная классификация: в момент выбора победителя предсказать, будет ли договор расторгнут или не подписан.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93776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ЗАЧЕМ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2578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1,8 млн закупок в год: аудиторы могут проверить лишь малую долю, и им нужен список самых рискованных закупок.</a:t>
            </a:r>
            <a:endParaRPr lang="en-US" sz="1800" dirty="0"/>
          </a:p>
        </p:txBody>
      </p:sp>
      <p:sp>
        <p:nvSpPr>
          <p:cNvPr id="8" name="Card 5"/>
          <p:cNvSpPr/>
          <p:nvPr/>
        </p:nvSpPr>
        <p:spPr>
          <a:xfrm>
            <a:off x="8229600" y="685800"/>
            <a:ext cx="333756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0" y="8869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358 789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1645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закупок с известным исходом (I кв. 2024)</a:t>
            </a:r>
            <a:endParaRPr lang="en-US" sz="1400" dirty="0"/>
          </a:p>
        </p:txBody>
      </p:sp>
      <p:sp>
        <p:nvSpPr>
          <p:cNvPr id="11" name="Card 8"/>
          <p:cNvSpPr/>
          <p:nvPr/>
        </p:nvSpPr>
        <p:spPr>
          <a:xfrm>
            <a:off x="8229600" y="2560320"/>
            <a:ext cx="333756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503920" y="276148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6,6 %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8503920" y="35204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из них закончились сорванным договором</a:t>
            </a:r>
            <a:endParaRPr lang="en-US" sz="1400" dirty="0"/>
          </a:p>
        </p:txBody>
      </p:sp>
      <p:sp>
        <p:nvSpPr>
          <p:cNvPr id="14" name="Card 11"/>
          <p:cNvSpPr/>
          <p:nvPr/>
        </p:nvSpPr>
        <p:spPr>
          <a:xfrm>
            <a:off x="8229600" y="4434840"/>
            <a:ext cx="3337560" cy="16459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03920" y="463600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 : 14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503920" y="53949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дисбаланс классов: срывы редки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Данные: закупки с известным исходом</a:t>
            </a:r>
            <a:endParaRPr lang="en-US" sz="3200" dirty="0"/>
          </a:p>
        </p:txBody>
      </p:sp>
      <p:sp>
        <p:nvSpPr>
          <p:cNvPr id="3" name="Text 14"/>
          <p:cNvSpPr txBox="1"/>
          <p:nvPr/>
        </p:nvSpPr>
        <p:spPr>
          <a:xfrm>
            <a:off x="548640" y="1463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Источник</a:t>
            </a:r>
            <a:endParaRPr lang="en-US" sz="1400" dirty="0"/>
          </a:p>
        </p:txBody>
      </p:sp>
      <p:sp>
        <p:nvSpPr>
          <p:cNvPr id="4" name="Text 15"/>
          <p:cNvSpPr txBox="1"/>
          <p:nvPr/>
        </p:nvSpPr>
        <p:spPr>
          <a:xfrm>
            <a:off x="1783080" y="14630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Открытые данные портала госзакупок goszakup.gov.kz (OWS v3 API)</a:t>
            </a:r>
            <a:endParaRPr lang="en-US" sz="1400" dirty="0"/>
          </a:p>
        </p:txBody>
      </p:sp>
      <p:sp>
        <p:nvSpPr>
          <p:cNvPr id="5" name="Text 16"/>
          <p:cNvSpPr txBox="1"/>
          <p:nvPr/>
        </p:nvSpPr>
        <p:spPr>
          <a:xfrm>
            <a:off x="548640" y="2606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Охват</a:t>
            </a:r>
            <a:endParaRPr lang="en-US" sz="1400" dirty="0"/>
          </a:p>
        </p:txBody>
      </p:sp>
      <p:sp>
        <p:nvSpPr>
          <p:cNvPr id="6" name="Text 17"/>
          <p:cNvSpPr txBox="1"/>
          <p:nvPr/>
        </p:nvSpPr>
        <p:spPr>
          <a:xfrm>
            <a:off x="1783080" y="26060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Все закупки января–марта 2024, по которым есть договор; 5 связанных таблиц сведены в одну строку на закупку</a:t>
            </a:r>
            <a:endParaRPr lang="en-US" sz="1400" dirty="0"/>
          </a:p>
        </p:txBody>
      </p:sp>
      <p:sp>
        <p:nvSpPr>
          <p:cNvPr id="7" name="Text 18"/>
          <p:cNvSpPr txBox="1"/>
          <p:nvPr/>
        </p:nvSpPr>
        <p:spPr>
          <a:xfrm>
            <a:off x="548640" y="3749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Target</a:t>
            </a:r>
            <a:endParaRPr lang="en-US" sz="1400" dirty="0"/>
          </a:p>
        </p:txBody>
      </p:sp>
      <p:sp>
        <p:nvSpPr>
          <p:cNvPr id="8" name="Text 19"/>
          <p:cNvSpPr txBox="1"/>
          <p:nvPr/>
        </p:nvSpPr>
        <p:spPr>
          <a:xfrm>
            <a:off x="1783080" y="37490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contract_failed = 1, если договор расторгнут или не подписан</a:t>
            </a:r>
            <a:endParaRPr lang="en-US" sz="1400" dirty="0"/>
          </a:p>
        </p:txBody>
      </p:sp>
      <p:sp>
        <p:nvSpPr>
          <p:cNvPr id="9" name="Text 20"/>
          <p:cNvSpPr txBox="1"/>
          <p:nvPr/>
        </p:nvSpPr>
        <p:spPr>
          <a:xfrm>
            <a:off x="548640" y="48920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Признаки</a:t>
            </a:r>
            <a:endParaRPr lang="en-US" sz="1400" dirty="0"/>
          </a:p>
        </p:txBody>
      </p:sp>
      <p:sp>
        <p:nvSpPr>
          <p:cNvPr id="10" name="Text 21"/>
          <p:cNvSpPr txBox="1"/>
          <p:nvPr/>
        </p:nvSpPr>
        <p:spPr>
          <a:xfrm>
            <a:off x="1783080" y="48920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 признаков, известных в момент выбора победителя: сумма, способ, конкуренция, сроки, предмет, регион</a:t>
            </a:r>
            <a:endParaRPr lang="en-US" sz="1400" dirty="0"/>
          </a:p>
        </p:txBody>
      </p:sp>
      <p:sp>
        <p:nvSpPr>
          <p:cNvPr id="11" name="Card 22"/>
          <p:cNvSpPr/>
          <p:nvPr/>
        </p:nvSpPr>
        <p:spPr>
          <a:xfrm>
            <a:off x="6492240" y="1463040"/>
            <a:ext cx="1609344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2" name="Text 23"/>
          <p:cNvSpPr txBox="1"/>
          <p:nvPr/>
        </p:nvSpPr>
        <p:spPr>
          <a:xfrm>
            <a:off x="6492240" y="1600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358 789</a:t>
            </a:r>
            <a:endParaRPr lang="en-US" sz="2600" dirty="0"/>
          </a:p>
        </p:txBody>
      </p:sp>
      <p:sp>
        <p:nvSpPr>
          <p:cNvPr id="13" name="Text 24"/>
          <p:cNvSpPr txBox="1"/>
          <p:nvPr/>
        </p:nvSpPr>
        <p:spPr>
          <a:xfrm>
            <a:off x="6492240" y="21945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закупок</a:t>
            </a:r>
            <a:endParaRPr lang="en-US" sz="1200" dirty="0"/>
          </a:p>
        </p:txBody>
      </p:sp>
      <p:sp>
        <p:nvSpPr>
          <p:cNvPr id="14" name="Card 25"/>
          <p:cNvSpPr/>
          <p:nvPr/>
        </p:nvSpPr>
        <p:spPr>
          <a:xfrm>
            <a:off x="8247888" y="1463040"/>
            <a:ext cx="1609344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5" name="Text 26"/>
          <p:cNvSpPr txBox="1"/>
          <p:nvPr/>
        </p:nvSpPr>
        <p:spPr>
          <a:xfrm>
            <a:off x="8247888" y="1600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6,6 %</a:t>
            </a:r>
            <a:endParaRPr lang="en-US" sz="2600" dirty="0"/>
          </a:p>
        </p:txBody>
      </p:sp>
      <p:sp>
        <p:nvSpPr>
          <p:cNvPr id="16" name="Text 27"/>
          <p:cNvSpPr txBox="1"/>
          <p:nvPr/>
        </p:nvSpPr>
        <p:spPr>
          <a:xfrm>
            <a:off x="8247888" y="21945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доля срывов</a:t>
            </a:r>
            <a:endParaRPr lang="en-US" sz="1200" dirty="0"/>
          </a:p>
        </p:txBody>
      </p:sp>
      <p:sp>
        <p:nvSpPr>
          <p:cNvPr id="17" name="Card 28"/>
          <p:cNvSpPr/>
          <p:nvPr/>
        </p:nvSpPr>
        <p:spPr>
          <a:xfrm>
            <a:off x="10003536" y="1463040"/>
            <a:ext cx="1609344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8" name="Text 29"/>
          <p:cNvSpPr txBox="1"/>
          <p:nvPr/>
        </p:nvSpPr>
        <p:spPr>
          <a:xfrm>
            <a:off x="10003536" y="1600200"/>
            <a:ext cx="1609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20</a:t>
            </a:r>
            <a:endParaRPr lang="en-US" sz="2600" dirty="0"/>
          </a:p>
        </p:txBody>
      </p:sp>
      <p:sp>
        <p:nvSpPr>
          <p:cNvPr id="19" name="Text 30"/>
          <p:cNvSpPr txBox="1"/>
          <p:nvPr/>
        </p:nvSpPr>
        <p:spPr>
          <a:xfrm>
            <a:off x="10003536" y="219456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признаков</a:t>
            </a:r>
            <a:endParaRPr lang="en-US" sz="1200" dirty="0"/>
          </a:p>
        </p:txBody>
      </p:sp>
      <p:sp>
        <p:nvSpPr>
          <p:cNvPr id="20" name="Text 31"/>
          <p:cNvSpPr txBox="1"/>
          <p:nvPr/>
        </p:nvSpPr>
        <p:spPr>
          <a:xfrm>
            <a:off x="6492240" y="29718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Разбиение по времени, без перемешивания</a:t>
            </a:r>
            <a:endParaRPr lang="en-US" sz="1600" dirty="0"/>
          </a:p>
        </p:txBody>
      </p:sp>
      <p:sp>
        <p:nvSpPr>
          <p:cNvPr id="21" name="Split 32"/>
          <p:cNvSpPr/>
          <p:nvPr/>
        </p:nvSpPr>
        <p:spPr>
          <a:xfrm>
            <a:off x="6492240" y="3383280"/>
            <a:ext cx="3789274" cy="457200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2" name="Text 33"/>
          <p:cNvSpPr txBox="1"/>
          <p:nvPr/>
        </p:nvSpPr>
        <p:spPr>
          <a:xfrm>
            <a:off x="6492240" y="3383280"/>
            <a:ext cx="37892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74 %</a:t>
            </a:r>
            <a:endParaRPr lang="en-US" sz="1400" dirty="0"/>
          </a:p>
        </p:txBody>
      </p:sp>
      <p:sp>
        <p:nvSpPr>
          <p:cNvPr id="23" name="Split 34"/>
          <p:cNvSpPr/>
          <p:nvPr/>
        </p:nvSpPr>
        <p:spPr>
          <a:xfrm>
            <a:off x="10281514" y="3383280"/>
            <a:ext cx="768096" cy="4572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4" name="Text 35"/>
          <p:cNvSpPr txBox="1"/>
          <p:nvPr/>
        </p:nvSpPr>
        <p:spPr>
          <a:xfrm>
            <a:off x="10281514" y="3383280"/>
            <a:ext cx="768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15 %</a:t>
            </a:r>
            <a:endParaRPr lang="en-US" sz="1400" dirty="0"/>
          </a:p>
        </p:txBody>
      </p:sp>
      <p:sp>
        <p:nvSpPr>
          <p:cNvPr id="25" name="Split 36"/>
          <p:cNvSpPr/>
          <p:nvPr/>
        </p:nvSpPr>
        <p:spPr>
          <a:xfrm>
            <a:off x="11049610" y="3383280"/>
            <a:ext cx="563270" cy="4572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6" name="Text 37"/>
          <p:cNvSpPr txBox="1"/>
          <p:nvPr/>
        </p:nvSpPr>
        <p:spPr>
          <a:xfrm>
            <a:off x="11049610" y="3383280"/>
            <a:ext cx="563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11 %</a:t>
            </a:r>
            <a:endParaRPr lang="en-US" sz="1400" dirty="0"/>
          </a:p>
        </p:txBody>
      </p:sp>
      <p:sp>
        <p:nvSpPr>
          <p:cNvPr id="27" name="Text 38"/>
          <p:cNvSpPr txBox="1"/>
          <p:nvPr/>
        </p:nvSpPr>
        <p:spPr>
          <a:xfrm>
            <a:off x="6492240" y="39319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Train: 1 янв – 29 фев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   ·   </a:t>
            </a:r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Validation: 1–15 мар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   ·  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Test: 16–31 мар</a:t>
            </a:r>
            <a:endParaRPr lang="en-US" sz="1200" dirty="0"/>
          </a:p>
        </p:txBody>
      </p:sp>
      <p:sp>
        <p:nvSpPr>
          <p:cNvPr id="28" name="Card 39"/>
          <p:cNvSpPr/>
          <p:nvPr/>
        </p:nvSpPr>
        <p:spPr>
          <a:xfrm>
            <a:off x="6492240" y="4526280"/>
            <a:ext cx="248716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29" name="Text 40"/>
          <p:cNvSpPr txBox="1"/>
          <p:nvPr/>
        </p:nvSpPr>
        <p:spPr>
          <a:xfrm>
            <a:off x="6675120" y="46360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×10</a:t>
            </a:r>
            <a:endParaRPr lang="en-US" sz="2200" dirty="0"/>
          </a:p>
        </p:txBody>
      </p:sp>
      <p:sp>
        <p:nvSpPr>
          <p:cNvPr id="30" name="Text 41"/>
          <p:cNvSpPr txBox="1"/>
          <p:nvPr/>
        </p:nvSpPr>
        <p:spPr>
          <a:xfrm>
            <a:off x="6675120" y="5120640"/>
            <a:ext cx="212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рост доли срывов от самого дешёвого дециля суммы к самому дорогому (1,5 % → 16,5 %)</a:t>
            </a:r>
            <a:endParaRPr lang="en-US" sz="1200" dirty="0"/>
          </a:p>
        </p:txBody>
      </p:sp>
      <p:sp>
        <p:nvSpPr>
          <p:cNvPr id="31" name="Card 42"/>
          <p:cNvSpPr/>
          <p:nvPr/>
        </p:nvSpPr>
        <p:spPr>
          <a:xfrm>
            <a:off x="9125712" y="4526280"/>
            <a:ext cx="248716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32" name="Text 43"/>
          <p:cNvSpPr txBox="1"/>
          <p:nvPr/>
        </p:nvSpPr>
        <p:spPr>
          <a:xfrm>
            <a:off x="9308592" y="4636008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9 % и 3 %</a:t>
            </a:r>
            <a:endParaRPr lang="en-US" sz="2200" dirty="0"/>
          </a:p>
        </p:txBody>
      </p:sp>
      <p:sp>
        <p:nvSpPr>
          <p:cNvPr id="33" name="Text 44"/>
          <p:cNvSpPr txBox="1"/>
          <p:nvPr/>
        </p:nvSpPr>
        <p:spPr>
          <a:xfrm>
            <a:off x="9308592" y="5120640"/>
            <a:ext cx="21214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запросы ценовых предложений и закупки из одного источника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Baseline: логистическая регрессия</a:t>
            </a:r>
            <a:endParaRPr lang="en-US" sz="3200" dirty="0"/>
          </a:p>
        </p:txBody>
      </p:sp>
      <p:sp>
        <p:nvSpPr>
          <p:cNvPr id="3" name="Card 45"/>
          <p:cNvSpPr/>
          <p:nvPr/>
        </p:nvSpPr>
        <p:spPr>
          <a:xfrm>
            <a:off x="548640" y="1463040"/>
            <a:ext cx="5486400" cy="1042416"/>
          </a:xfrm>
          <a:prstGeom prst="roundRect">
            <a:avLst>
              <a:gd name="adj" fmla="val 7018"/>
            </a:avLst>
          </a:prstGeom>
          <a:solidFill>
            <a:schemeClr val="bg2"/>
          </a:solidFill>
          <a:ln/>
        </p:spPr>
      </p:sp>
      <p:sp>
        <p:nvSpPr>
          <p:cNvPr id="4" name="Text 46"/>
          <p:cNvSpPr txBox="1"/>
          <p:nvPr/>
        </p:nvSpPr>
        <p:spPr>
          <a:xfrm>
            <a:off x="777240" y="1572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Предобработка</a:t>
            </a:r>
            <a:endParaRPr lang="en-US" sz="1600" dirty="0"/>
          </a:p>
        </p:txBody>
      </p:sp>
      <p:sp>
        <p:nvSpPr>
          <p:cNvPr id="5" name="Text 47"/>
          <p:cNvSpPr txBox="1"/>
          <p:nvPr/>
        </p:nvSpPr>
        <p:spPr>
          <a:xfrm>
            <a:off x="777240" y="1920240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Медиана вместо пропусков + флаги пропуска, масштабирование, one-hot; обучается только на train</a:t>
            </a:r>
            <a:endParaRPr lang="en-US" sz="1400" dirty="0"/>
          </a:p>
        </p:txBody>
      </p:sp>
      <p:sp>
        <p:nvSpPr>
          <p:cNvPr id="6" name="Arrow 48"/>
          <p:cNvSpPr/>
          <p:nvPr/>
        </p:nvSpPr>
        <p:spPr>
          <a:xfrm>
            <a:off x="3154680" y="2532888"/>
            <a:ext cx="274320" cy="201168"/>
          </a:xfrm>
          <a:prstGeom prst="downArrow">
            <a:avLst/>
          </a:prstGeom>
          <a:solidFill>
            <a:schemeClr val="accent5"/>
          </a:solidFill>
          <a:ln/>
        </p:spPr>
      </p:sp>
      <p:sp>
        <p:nvSpPr>
          <p:cNvPr id="7" name="Card 49"/>
          <p:cNvSpPr/>
          <p:nvPr/>
        </p:nvSpPr>
        <p:spPr>
          <a:xfrm>
            <a:off x="548640" y="2761488"/>
            <a:ext cx="5486400" cy="1042416"/>
          </a:xfrm>
          <a:prstGeom prst="roundRect">
            <a:avLst>
              <a:gd name="adj" fmla="val 7018"/>
            </a:avLst>
          </a:prstGeom>
          <a:solidFill>
            <a:schemeClr val="accent2"/>
          </a:solidFill>
          <a:ln/>
        </p:spPr>
      </p:sp>
      <p:sp>
        <p:nvSpPr>
          <p:cNvPr id="8" name="Text 50"/>
          <p:cNvSpPr txBox="1"/>
          <p:nvPr/>
        </p:nvSpPr>
        <p:spPr>
          <a:xfrm>
            <a:off x="777240" y="2871216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Логистическая регрессия</a:t>
            </a:r>
            <a:endParaRPr lang="en-US" sz="1600" dirty="0"/>
          </a:p>
        </p:txBody>
      </p:sp>
      <p:sp>
        <p:nvSpPr>
          <p:cNvPr id="9" name="Text 51"/>
          <p:cNvSpPr txBox="1"/>
          <p:nvPr/>
        </p:nvSpPr>
        <p:spPr>
          <a:xfrm>
            <a:off x="777240" y="3218688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L2-штраф, C = 1, class_weight = balanced, solver lbfgs</a:t>
            </a:r>
            <a:endParaRPr lang="en-US" sz="1400" dirty="0"/>
          </a:p>
        </p:txBody>
      </p:sp>
      <p:sp>
        <p:nvSpPr>
          <p:cNvPr id="10" name="Arrow 52"/>
          <p:cNvSpPr/>
          <p:nvPr/>
        </p:nvSpPr>
        <p:spPr>
          <a:xfrm>
            <a:off x="3154680" y="3831336"/>
            <a:ext cx="274320" cy="201168"/>
          </a:xfrm>
          <a:prstGeom prst="downArrow">
            <a:avLst/>
          </a:prstGeom>
          <a:solidFill>
            <a:schemeClr val="accent5"/>
          </a:solidFill>
          <a:ln/>
        </p:spPr>
      </p:sp>
      <p:sp>
        <p:nvSpPr>
          <p:cNvPr id="11" name="Card 53"/>
          <p:cNvSpPr/>
          <p:nvPr/>
        </p:nvSpPr>
        <p:spPr>
          <a:xfrm>
            <a:off x="548640" y="4059936"/>
            <a:ext cx="5486400" cy="1042416"/>
          </a:xfrm>
          <a:prstGeom prst="roundRect">
            <a:avLst>
              <a:gd name="adj" fmla="val 7018"/>
            </a:avLst>
          </a:prstGeom>
          <a:solidFill>
            <a:schemeClr val="bg2"/>
          </a:solidFill>
          <a:ln/>
        </p:spPr>
      </p:sp>
      <p:sp>
        <p:nvSpPr>
          <p:cNvPr id="12" name="Text 54"/>
          <p:cNvSpPr txBox="1"/>
          <p:nvPr/>
        </p:nvSpPr>
        <p:spPr>
          <a:xfrm>
            <a:off x="777240" y="4169664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Оценка риска 0–1</a:t>
            </a:r>
            <a:endParaRPr lang="en-US" sz="1600" dirty="0"/>
          </a:p>
        </p:txBody>
      </p:sp>
      <p:sp>
        <p:nvSpPr>
          <p:cNvPr id="13" name="Text 55"/>
          <p:cNvSpPr txBox="1"/>
          <p:nvPr/>
        </p:nvSpPr>
        <p:spPr>
          <a:xfrm>
            <a:off x="777240" y="4517136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Ранжирует закупки; порог решения подобран на validation</a:t>
            </a:r>
            <a:endParaRPr lang="en-US" sz="1400" dirty="0"/>
          </a:p>
        </p:txBody>
      </p:sp>
      <p:sp>
        <p:nvSpPr>
          <p:cNvPr id="14" name="Text 56"/>
          <p:cNvSpPr txBox="1"/>
          <p:nvPr/>
        </p:nvSpPr>
        <p:spPr>
          <a:xfrm>
            <a:off x="548640" y="53492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Обучение: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266 294 закупки (январь–февраль) · 20 признаков → 52 входа · сошлась за 75 итераций · 1 секунда</a:t>
            </a:r>
            <a:endParaRPr lang="en-US" sz="1400" dirty="0"/>
          </a:p>
        </p:txBody>
      </p:sp>
      <p:sp>
        <p:nvSpPr>
          <p:cNvPr id="15" name="Text 57"/>
          <p:cNvSpPr txBox="1"/>
          <p:nvPr/>
        </p:nvSpPr>
        <p:spPr>
          <a:xfrm>
            <a:off x="6492240" y="1417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эта модель</a:t>
            </a:r>
            <a:endParaRPr lang="en-US" sz="2000" dirty="0"/>
          </a:p>
        </p:txBody>
      </p:sp>
      <p:sp>
        <p:nvSpPr>
          <p:cNvPr id="16" name="Badge 58"/>
          <p:cNvSpPr/>
          <p:nvPr/>
        </p:nvSpPr>
        <p:spPr>
          <a:xfrm>
            <a:off x="6492240" y="19659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59"/>
          <p:cNvSpPr txBox="1"/>
          <p:nvPr/>
        </p:nvSpPr>
        <p:spPr>
          <a:xfrm>
            <a:off x="649224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8" name="Text 60"/>
          <p:cNvSpPr txBox="1"/>
          <p:nvPr/>
        </p:nvSpPr>
        <p:spPr>
          <a:xfrm>
            <a:off x="7040880" y="193852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Выдаёт вероятность, поэтому закупки можно ранжировать для проверки</a:t>
            </a:r>
            <a:endParaRPr lang="en-US" sz="1400" dirty="0"/>
          </a:p>
        </p:txBody>
      </p:sp>
      <p:sp>
        <p:nvSpPr>
          <p:cNvPr id="19" name="Badge 61"/>
          <p:cNvSpPr/>
          <p:nvPr/>
        </p:nvSpPr>
        <p:spPr>
          <a:xfrm>
            <a:off x="6492240" y="267919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62"/>
          <p:cNvSpPr txBox="1"/>
          <p:nvPr/>
        </p:nvSpPr>
        <p:spPr>
          <a:xfrm>
            <a:off x="6492240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1" name="Text 63"/>
          <p:cNvSpPr txBox="1"/>
          <p:nvPr/>
        </p:nvSpPr>
        <p:spPr>
          <a:xfrm>
            <a:off x="7040880" y="2651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Понятные коэффициенты: модель можно сверить с результатами EDA</a:t>
            </a:r>
            <a:endParaRPr lang="en-US" sz="1400" dirty="0"/>
          </a:p>
        </p:txBody>
      </p:sp>
      <p:sp>
        <p:nvSpPr>
          <p:cNvPr id="22" name="Badge 64"/>
          <p:cNvSpPr/>
          <p:nvPr/>
        </p:nvSpPr>
        <p:spPr>
          <a:xfrm>
            <a:off x="6492240" y="339242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65"/>
          <p:cNvSpPr txBox="1"/>
          <p:nvPr/>
        </p:nvSpPr>
        <p:spPr>
          <a:xfrm>
            <a:off x="6492240" y="3392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Text 66"/>
          <p:cNvSpPr txBox="1"/>
          <p:nvPr/>
        </p:nvSpPr>
        <p:spPr>
          <a:xfrm>
            <a:off x="7040880" y="33649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Веса классов решают проблему дисбаланса 1 : 14 без ресэмплинга</a:t>
            </a:r>
            <a:endParaRPr lang="en-US" sz="1400" dirty="0"/>
          </a:p>
        </p:txBody>
      </p:sp>
      <p:sp>
        <p:nvSpPr>
          <p:cNvPr id="25" name="Badge 67"/>
          <p:cNvSpPr/>
          <p:nvPr/>
        </p:nvSpPr>
        <p:spPr>
          <a:xfrm>
            <a:off x="6492240" y="410565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Text 68"/>
          <p:cNvSpPr txBox="1"/>
          <p:nvPr/>
        </p:nvSpPr>
        <p:spPr>
          <a:xfrm>
            <a:off x="6492240" y="4105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Text 69"/>
          <p:cNvSpPr txBox="1"/>
          <p:nvPr/>
        </p:nvSpPr>
        <p:spPr>
          <a:xfrm>
            <a:off x="7040880" y="407822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Обучается за 1 с на 266 тыс. строк и работает с разреженным текстом</a:t>
            </a:r>
            <a:endParaRPr lang="en-US" sz="1400" dirty="0"/>
          </a:p>
        </p:txBody>
      </p:sp>
      <p:sp>
        <p:nvSpPr>
          <p:cNvPr id="28" name="Text 70"/>
          <p:cNvSpPr txBox="1"/>
          <p:nvPr/>
        </p:nvSpPr>
        <p:spPr>
          <a:xfrm>
            <a:off x="6492240" y="48920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Пока не базовая модель</a:t>
            </a:r>
            <a:endParaRPr lang="en-US" sz="1600" dirty="0"/>
          </a:p>
        </p:txBody>
      </p:sp>
      <p:sp>
        <p:nvSpPr>
          <p:cNvPr id="29" name="Text 71"/>
          <p:cNvSpPr txBox="1"/>
          <p:nvPr/>
        </p:nvSpPr>
        <p:spPr>
          <a:xfrm>
            <a:off x="6492240" y="525780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Градиентный бустинг и трансформер запланированы на A3: им нужна модель для сравнения. SVM и kNN не масштабируются на 266 тыс. строк. Наивный Байес: признаки коррелируют.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Метрики: почему accuracy не подходит</a:t>
            </a:r>
            <a:endParaRPr lang="en-US" sz="3200" dirty="0"/>
          </a:p>
        </p:txBody>
      </p:sp>
      <p:sp>
        <p:nvSpPr>
          <p:cNvPr id="3" name="Card 72"/>
          <p:cNvSpPr/>
          <p:nvPr/>
        </p:nvSpPr>
        <p:spPr>
          <a:xfrm>
            <a:off x="548640" y="1463040"/>
            <a:ext cx="3931920" cy="466344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/>
        </p:spPr>
      </p:sp>
      <p:sp>
        <p:nvSpPr>
          <p:cNvPr id="4" name="Text 73"/>
          <p:cNvSpPr txBox="1"/>
          <p:nvPr/>
        </p:nvSpPr>
        <p:spPr>
          <a:xfrm>
            <a:off x="822960" y="17373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93,4 %</a:t>
            </a:r>
            <a:endParaRPr lang="en-US" sz="5400" dirty="0"/>
          </a:p>
        </p:txBody>
      </p:sp>
      <p:sp>
        <p:nvSpPr>
          <p:cNvPr id="5" name="Text 74"/>
          <p:cNvSpPr txBox="1"/>
          <p:nvPr/>
        </p:nvSpPr>
        <p:spPr>
          <a:xfrm>
            <a:off x="822960" y="274320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accuracy у «модели», которая никого не помечает</a:t>
            </a:r>
            <a:endParaRPr lang="en-US" sz="1600" dirty="0"/>
          </a:p>
        </p:txBody>
      </p:sp>
      <p:sp>
        <p:nvSpPr>
          <p:cNvPr id="6" name="Text 75"/>
          <p:cNvSpPr txBox="1"/>
          <p:nvPr/>
        </p:nvSpPr>
        <p:spPr>
          <a:xfrm>
            <a:off x="822960" y="3520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…и не находит ни одного срыва</a:t>
            </a:r>
            <a:endParaRPr lang="en-US" sz="1600" dirty="0"/>
          </a:p>
        </p:txBody>
      </p:sp>
      <p:sp>
        <p:nvSpPr>
          <p:cNvPr id="7" name="Text 76"/>
          <p:cNvSpPr txBox="1"/>
          <p:nvPr/>
        </p:nvSpPr>
        <p:spPr>
          <a:xfrm>
            <a:off x="822960" y="420624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При 6,6 % срывов accuracy поощряет бездействие. У полезных моделей она ниже, около 0,89, потому что они решаются помечать закупки.</a:t>
            </a:r>
            <a:endParaRPr lang="en-US" sz="1600" dirty="0"/>
          </a:p>
        </p:txBody>
      </p:sp>
      <p:sp>
        <p:nvSpPr>
          <p:cNvPr id="8" name="Card 77"/>
          <p:cNvSpPr/>
          <p:nvPr/>
        </p:nvSpPr>
        <p:spPr>
          <a:xfrm>
            <a:off x="4800600" y="1463040"/>
            <a:ext cx="3310128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9" name="Text 78"/>
          <p:cNvSpPr txBox="1"/>
          <p:nvPr/>
        </p:nvSpPr>
        <p:spPr>
          <a:xfrm>
            <a:off x="5029200" y="1645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ROC-AUC</a:t>
            </a:r>
            <a:endParaRPr lang="en-US" sz="1800" dirty="0"/>
          </a:p>
        </p:txBody>
      </p:sp>
      <p:sp>
        <p:nvSpPr>
          <p:cNvPr id="10" name="Text 79"/>
          <p:cNvSpPr txBox="1"/>
          <p:nvPr/>
        </p:nvSpPr>
        <p:spPr>
          <a:xfrm>
            <a:off x="6903720" y="1645920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0,79</a:t>
            </a:r>
            <a:endParaRPr lang="en-US" sz="2200" dirty="0"/>
          </a:p>
        </p:txBody>
      </p:sp>
      <p:sp>
        <p:nvSpPr>
          <p:cNvPr id="11" name="Text 80"/>
          <p:cNvSpPr txBox="1"/>
          <p:nvPr/>
        </p:nvSpPr>
        <p:spPr>
          <a:xfrm>
            <a:off x="5029200" y="2194560"/>
            <a:ext cx="28529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Вероятность, что сорванный договор получит оценку выше успешного. Не зависит от порога и соотношения классов.</a:t>
            </a:r>
            <a:endParaRPr lang="en-US" sz="1600" dirty="0"/>
          </a:p>
        </p:txBody>
      </p:sp>
      <p:sp>
        <p:nvSpPr>
          <p:cNvPr id="12" name="Card 81"/>
          <p:cNvSpPr/>
          <p:nvPr/>
        </p:nvSpPr>
        <p:spPr>
          <a:xfrm>
            <a:off x="8275320" y="1463040"/>
            <a:ext cx="3310128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13" name="Text 82"/>
          <p:cNvSpPr txBox="1"/>
          <p:nvPr/>
        </p:nvSpPr>
        <p:spPr>
          <a:xfrm>
            <a:off x="8503920" y="16459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PR-AUC</a:t>
            </a:r>
            <a:endParaRPr lang="en-US" sz="1800" dirty="0"/>
          </a:p>
        </p:txBody>
      </p:sp>
      <p:sp>
        <p:nvSpPr>
          <p:cNvPr id="14" name="Text 83"/>
          <p:cNvSpPr txBox="1"/>
          <p:nvPr/>
        </p:nvSpPr>
        <p:spPr>
          <a:xfrm>
            <a:off x="10378440" y="1645920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0,26</a:t>
            </a:r>
            <a:endParaRPr lang="en-US" sz="2200" dirty="0"/>
          </a:p>
        </p:txBody>
      </p:sp>
      <p:sp>
        <p:nvSpPr>
          <p:cNvPr id="15" name="Text 84"/>
          <p:cNvSpPr txBox="1"/>
          <p:nvPr/>
        </p:nvSpPr>
        <p:spPr>
          <a:xfrm>
            <a:off x="8503920" y="2194560"/>
            <a:ext cx="28529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Средняя точность по всем уровням полноты. Случайный уровень 0,066, у нас в 4 раза выше. Самая честная при дисбалансе.</a:t>
            </a:r>
            <a:endParaRPr lang="en-US" sz="1600" dirty="0"/>
          </a:p>
        </p:txBody>
      </p:sp>
      <p:sp>
        <p:nvSpPr>
          <p:cNvPr id="16" name="Card 85"/>
          <p:cNvSpPr/>
          <p:nvPr/>
        </p:nvSpPr>
        <p:spPr>
          <a:xfrm>
            <a:off x="4800600" y="3886200"/>
            <a:ext cx="3310128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17" name="Text 86"/>
          <p:cNvSpPr txBox="1"/>
          <p:nvPr/>
        </p:nvSpPr>
        <p:spPr>
          <a:xfrm>
            <a:off x="5029200" y="4069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F1</a:t>
            </a:r>
            <a:endParaRPr lang="en-US" sz="1800" dirty="0"/>
          </a:p>
        </p:txBody>
      </p:sp>
      <p:sp>
        <p:nvSpPr>
          <p:cNvPr id="18" name="Text 87"/>
          <p:cNvSpPr txBox="1"/>
          <p:nvPr/>
        </p:nvSpPr>
        <p:spPr>
          <a:xfrm>
            <a:off x="6903720" y="4069080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0,32</a:t>
            </a:r>
            <a:endParaRPr lang="en-US" sz="2200" dirty="0"/>
          </a:p>
        </p:txBody>
      </p:sp>
      <p:sp>
        <p:nvSpPr>
          <p:cNvPr id="19" name="Text 88"/>
          <p:cNvSpPr txBox="1"/>
          <p:nvPr/>
        </p:nvSpPr>
        <p:spPr>
          <a:xfrm>
            <a:off x="5029200" y="4617720"/>
            <a:ext cx="28529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Баланс точности (0,26) и полноты (0,42) при одном пороге, подобранном только на validation.</a:t>
            </a:r>
            <a:endParaRPr lang="en-US" sz="1600" dirty="0"/>
          </a:p>
        </p:txBody>
      </p:sp>
      <p:sp>
        <p:nvSpPr>
          <p:cNvPr id="20" name="Card 89"/>
          <p:cNvSpPr/>
          <p:nvPr/>
        </p:nvSpPr>
        <p:spPr>
          <a:xfrm>
            <a:off x="8275320" y="3886200"/>
            <a:ext cx="3310128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21" name="Text 90"/>
          <p:cNvSpPr txBox="1"/>
          <p:nvPr/>
        </p:nvSpPr>
        <p:spPr>
          <a:xfrm>
            <a:off x="8503920" y="4069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Precision@1 %</a:t>
            </a:r>
            <a:endParaRPr lang="en-US" sz="1800" dirty="0"/>
          </a:p>
        </p:txBody>
      </p:sp>
      <p:sp>
        <p:nvSpPr>
          <p:cNvPr id="22" name="Text 91"/>
          <p:cNvSpPr txBox="1"/>
          <p:nvPr/>
        </p:nvSpPr>
        <p:spPr>
          <a:xfrm>
            <a:off x="10378440" y="4069080"/>
            <a:ext cx="978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0,50</a:t>
            </a:r>
            <a:endParaRPr lang="en-US" sz="2200" dirty="0"/>
          </a:p>
        </p:txBody>
      </p:sp>
      <p:sp>
        <p:nvSpPr>
          <p:cNvPr id="23" name="Text 92"/>
          <p:cNvSpPr txBox="1"/>
          <p:nvPr/>
        </p:nvSpPr>
        <p:spPr>
          <a:xfrm>
            <a:off x="8503920" y="4617720"/>
            <a:ext cx="28529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Качество верхушки списка: соответствует ограниченным возможностям аудитора.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Результаты: намного лучше случайного отбора</a:t>
            </a:r>
            <a:endParaRPr lang="en-US" sz="3200" dirty="0"/>
          </a:p>
        </p:txBody>
      </p:sp>
      <p:graphicFrame>
        <p:nvGraphicFramePr>
          <p:cNvPr id="6" name="Resul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"/>
                <a:gridCol w="822960"/>
                <a:gridCol w="640080"/>
                <a:gridCol w="777240"/>
                <a:gridCol w="822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Модель (test: 16–31 марта)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ROC-AUC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PR-AUC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P@1 %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R@5 %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Без модели (prior)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0,500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0,066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–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0,066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0,050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Лог. регрессия (baseline)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0,792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0,262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0,324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0,504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0,263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Случайный лес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0,804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0,298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0,368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0,563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0,300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Лог. регр. + текст лотов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0,802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0,282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0,332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0,550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0,277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DF2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Badge 93"/>
          <p:cNvSpPr/>
          <p:nvPr/>
        </p:nvSpPr>
        <p:spPr>
          <a:xfrm>
            <a:off x="548640" y="41605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94"/>
          <p:cNvSpPr txBox="1"/>
          <p:nvPr/>
        </p:nvSpPr>
        <p:spPr>
          <a:xfrm>
            <a:off x="54864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95"/>
          <p:cNvSpPr txBox="1"/>
          <p:nvPr/>
        </p:nvSpPr>
        <p:spPr>
          <a:xfrm>
            <a:off x="1097280" y="4123944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Стабильно: ROC-AUC 0,794 на validation и 0,792 на test</a:t>
            </a:r>
            <a:endParaRPr lang="en-US" sz="1400" dirty="0"/>
          </a:p>
        </p:txBody>
      </p:sp>
      <p:sp>
        <p:nvSpPr>
          <p:cNvPr id="7" name="Badge 96"/>
          <p:cNvSpPr/>
          <p:nvPr/>
        </p:nvSpPr>
        <p:spPr>
          <a:xfrm>
            <a:off x="548640" y="4818888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97"/>
          <p:cNvSpPr txBox="1"/>
          <p:nvPr/>
        </p:nvSpPr>
        <p:spPr>
          <a:xfrm>
            <a:off x="54864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98"/>
          <p:cNvSpPr txBox="1"/>
          <p:nvPr/>
        </p:nvSpPr>
        <p:spPr>
          <a:xfrm>
            <a:off x="1097280" y="478231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Нелинейность важна: случайный лес даёт +0,04 PR-AUC на тех же признаках</a:t>
            </a:r>
            <a:endParaRPr lang="en-US" sz="1400" dirty="0"/>
          </a:p>
        </p:txBody>
      </p:sp>
      <p:sp>
        <p:nvSpPr>
          <p:cNvPr id="10" name="Badge 99"/>
          <p:cNvSpPr/>
          <p:nvPr/>
        </p:nvSpPr>
        <p:spPr>
          <a:xfrm>
            <a:off x="548640" y="5477256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100"/>
          <p:cNvSpPr txBox="1"/>
          <p:nvPr/>
        </p:nvSpPr>
        <p:spPr>
          <a:xfrm>
            <a:off x="54864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1"/>
          <p:cNvSpPr txBox="1"/>
          <p:nvPr/>
        </p:nvSpPr>
        <p:spPr>
          <a:xfrm>
            <a:off x="1097280" y="54406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Текст лотов добавляет немного: +0,02 PR-AUC</a:t>
            </a:r>
            <a:endParaRPr lang="en-US" sz="1400" dirty="0"/>
          </a:p>
        </p:txBody>
      </p:sp>
      <p:pic>
        <p:nvPicPr>
          <p:cNvPr id="13" name="Gain chart" descr="График накопленного выигрыша: базовая модель находит 26 % срывов в топ-5 % и 60 % в топ-20 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371600"/>
            <a:ext cx="4480560" cy="3657600"/>
          </a:xfrm>
          <a:prstGeom prst="rect">
            <a:avLst/>
          </a:prstGeom>
        </p:spPr>
      </p:pic>
      <p:sp>
        <p:nvSpPr>
          <p:cNvPr id="14" name="Card 102"/>
          <p:cNvSpPr/>
          <p:nvPr/>
        </p:nvSpPr>
        <p:spPr>
          <a:xfrm>
            <a:off x="7178040" y="5166360"/>
            <a:ext cx="4480560" cy="1005840"/>
          </a:xfrm>
          <a:prstGeom prst="roundRect">
            <a:avLst>
              <a:gd name="adj" fmla="val 7273"/>
            </a:avLst>
          </a:prstGeom>
          <a:solidFill>
            <a:schemeClr val="accent6"/>
          </a:solidFill>
          <a:ln/>
        </p:spPr>
      </p:sp>
      <p:sp>
        <p:nvSpPr>
          <p:cNvPr id="15" name="Text 103"/>
          <p:cNvSpPr txBox="1"/>
          <p:nvPr/>
        </p:nvSpPr>
        <p:spPr>
          <a:xfrm>
            <a:off x="7360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Проверить топ-5 % → найти 26 % срывов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Топ-20 % → 60 %. Случайно: 5 % и 20 %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Где базовая модель ошибается</a:t>
            </a:r>
            <a:endParaRPr lang="en-US" sz="3200" dirty="0"/>
          </a:p>
        </p:txBody>
      </p:sp>
      <p:pic>
        <p:nvPicPr>
          <p:cNvPr id="3" name="Method chart" descr="ROC-AUC базовой модели внутри каждого способа закуп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035040" cy="3429000"/>
          </a:xfrm>
          <a:prstGeom prst="rect">
            <a:avLst/>
          </a:prstGeom>
        </p:spPr>
      </p:pic>
      <p:pic>
        <p:nvPicPr>
          <p:cNvPr id="4" name="Value chart" descr="Полнота базовой модели по четвертям суммы закупк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25880"/>
            <a:ext cx="4800600" cy="3429000"/>
          </a:xfrm>
          <a:prstGeom prst="rect">
            <a:avLst/>
          </a:prstGeom>
        </p:spPr>
      </p:pic>
      <p:sp>
        <p:nvSpPr>
          <p:cNvPr id="5" name="Card 104"/>
          <p:cNvSpPr/>
          <p:nvPr/>
        </p:nvSpPr>
        <p:spPr>
          <a:xfrm>
            <a:off x="548640" y="493776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6" name="Text 105"/>
          <p:cNvSpPr txBox="1"/>
          <p:nvPr/>
        </p:nvSpPr>
        <p:spPr>
          <a:xfrm>
            <a:off x="731520" y="50292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Работает в одном способе</a:t>
            </a:r>
            <a:endParaRPr lang="en-US" sz="1600" dirty="0"/>
          </a:p>
        </p:txBody>
      </p:sp>
      <p:sp>
        <p:nvSpPr>
          <p:cNvPr id="7" name="Text 106"/>
          <p:cNvSpPr txBox="1"/>
          <p:nvPr/>
        </p:nvSpPr>
        <p:spPr>
          <a:xfrm>
            <a:off x="731520" y="53949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Хорошо ранжирует внутри запросов ценовых предложений (0,80), в малых видах конкурсов почти случайно</a:t>
            </a:r>
            <a:endParaRPr lang="en-US" sz="1400" dirty="0"/>
          </a:p>
        </p:txBody>
      </p:sp>
      <p:sp>
        <p:nvSpPr>
          <p:cNvPr id="8" name="Card 107"/>
          <p:cNvSpPr/>
          <p:nvPr/>
        </p:nvSpPr>
        <p:spPr>
          <a:xfrm>
            <a:off x="4297680" y="493776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9" name="Text 108"/>
          <p:cNvSpPr txBox="1"/>
          <p:nvPr/>
        </p:nvSpPr>
        <p:spPr>
          <a:xfrm>
            <a:off x="4480560" y="50292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Не видит дешёвые закупки</a:t>
            </a:r>
            <a:endParaRPr lang="en-US" sz="1600" dirty="0"/>
          </a:p>
        </p:txBody>
      </p:sp>
      <p:sp>
        <p:nvSpPr>
          <p:cNvPr id="10" name="Text 109"/>
          <p:cNvSpPr txBox="1"/>
          <p:nvPr/>
        </p:nvSpPr>
        <p:spPr>
          <a:xfrm>
            <a:off x="4480560" y="53949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 самой дешёвой четверти поймано 0 % срывов, в самой дорогой 64 %</a:t>
            </a:r>
            <a:endParaRPr lang="en-US" sz="1400" dirty="0"/>
          </a:p>
        </p:txBody>
      </p:sp>
      <p:sp>
        <p:nvSpPr>
          <p:cNvPr id="11" name="Card 110"/>
          <p:cNvSpPr/>
          <p:nvPr/>
        </p:nvSpPr>
        <p:spPr>
          <a:xfrm>
            <a:off x="8046720" y="493776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2" name="Text 111"/>
          <p:cNvSpPr txBox="1"/>
          <p:nvPr/>
        </p:nvSpPr>
        <p:spPr>
          <a:xfrm>
            <a:off x="8229600" y="50292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Оценки не вероятности</a:t>
            </a:r>
            <a:endParaRPr lang="en-US" sz="1600" dirty="0"/>
          </a:p>
        </p:txBody>
      </p:sp>
      <p:sp>
        <p:nvSpPr>
          <p:cNvPr id="13" name="Text 112"/>
          <p:cNvSpPr txBox="1"/>
          <p:nvPr/>
        </p:nvSpPr>
        <p:spPr>
          <a:xfrm>
            <a:off x="8229600" y="53949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Веса классов завышают их: средняя оценка 0,42 при реальной доле 0,07. Только для ранжирования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Выводы и следующий этап</a:t>
            </a:r>
            <a:endParaRPr lang="en-US" sz="3200" dirty="0"/>
          </a:p>
        </p:txBody>
      </p:sp>
      <p:sp>
        <p:nvSpPr>
          <p:cNvPr id="3" name="Text 113"/>
          <p:cNvSpPr txBox="1"/>
          <p:nvPr/>
        </p:nvSpPr>
        <p:spPr>
          <a:xfrm>
            <a:off x="548640" y="14630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ЧТО ПОКАЗАЛ ПЕРВЫЙ ЭКСПЕРИМЕНТ</a:t>
            </a:r>
            <a:endParaRPr lang="en-US" sz="1200" dirty="0"/>
          </a:p>
        </p:txBody>
      </p:sp>
      <p:sp>
        <p:nvSpPr>
          <p:cNvPr id="4" name="Text 114"/>
          <p:cNvSpPr txBox="1"/>
          <p:nvPr/>
        </p:nvSpPr>
        <p:spPr>
          <a:xfrm>
            <a:off x="548640" y="19202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0,79</a:t>
            </a:r>
            <a:endParaRPr lang="en-US" sz="4000" dirty="0"/>
          </a:p>
        </p:txBody>
      </p:sp>
      <p:sp>
        <p:nvSpPr>
          <p:cNvPr id="5" name="Text 115"/>
          <p:cNvSpPr txBox="1"/>
          <p:nvPr/>
        </p:nvSpPr>
        <p:spPr>
          <a:xfrm>
            <a:off x="2103120" y="19202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ROC-AUC на новых мартовских данных: информация на момент выбора победителя предсказывает срыв договора</a:t>
            </a:r>
            <a:endParaRPr lang="en-US" sz="1400" dirty="0"/>
          </a:p>
        </p:txBody>
      </p:sp>
      <p:sp>
        <p:nvSpPr>
          <p:cNvPr id="6" name="Text 116"/>
          <p:cNvSpPr txBox="1"/>
          <p:nvPr/>
        </p:nvSpPr>
        <p:spPr>
          <a:xfrm>
            <a:off x="548640" y="31089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5×</a:t>
            </a:r>
            <a:endParaRPr lang="en-US" sz="4000" dirty="0"/>
          </a:p>
        </p:txBody>
      </p:sp>
      <p:sp>
        <p:nvSpPr>
          <p:cNvPr id="7" name="Text 117"/>
          <p:cNvSpPr txBox="1"/>
          <p:nvPr/>
        </p:nvSpPr>
        <p:spPr>
          <a:xfrm>
            <a:off x="2103120" y="31089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лучше случайной проверки: в верхних 5 % списка находится 26 % всех срывов</a:t>
            </a:r>
            <a:endParaRPr lang="en-US" sz="1400" dirty="0"/>
          </a:p>
        </p:txBody>
      </p:sp>
      <p:sp>
        <p:nvSpPr>
          <p:cNvPr id="8" name="Text 118"/>
          <p:cNvSpPr txBox="1"/>
          <p:nvPr/>
        </p:nvSpPr>
        <p:spPr>
          <a:xfrm>
            <a:off x="548640" y="42976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0,83</a:t>
            </a:r>
            <a:endParaRPr lang="en-US" sz="4000" dirty="0"/>
          </a:p>
        </p:txBody>
      </p:sp>
      <p:sp>
        <p:nvSpPr>
          <p:cNvPr id="9" name="Text 119"/>
          <p:cNvSpPr txBox="1"/>
          <p:nvPr/>
        </p:nvSpPr>
        <p:spPr>
          <a:xfrm>
            <a:off x="2103120" y="42976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ROC-AUC для строгой метки срыва: сигнал не является шумом разметки</a:t>
            </a:r>
            <a:endParaRPr lang="en-US" sz="1400" dirty="0"/>
          </a:p>
        </p:txBody>
      </p:sp>
      <p:sp>
        <p:nvSpPr>
          <p:cNvPr id="10" name="Text 120"/>
          <p:cNvSpPr txBox="1"/>
          <p:nvPr/>
        </p:nvSpPr>
        <p:spPr>
          <a:xfrm>
            <a:off x="548640" y="553212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Ограничения: линейная модель, один квартал данных, нет истории поставщиков, оценки не откалиброваны.</a:t>
            </a:r>
            <a:endParaRPr lang="en-US" sz="1400" dirty="0"/>
          </a:p>
        </p:txBody>
      </p:sp>
      <p:sp>
        <p:nvSpPr>
          <p:cNvPr id="11" name="Card 121"/>
          <p:cNvSpPr/>
          <p:nvPr/>
        </p:nvSpPr>
        <p:spPr>
          <a:xfrm>
            <a:off x="6583680" y="1463040"/>
            <a:ext cx="5029200" cy="4709160"/>
          </a:xfrm>
          <a:prstGeom prst="roundRect">
            <a:avLst>
              <a:gd name="adj" fmla="val 1553"/>
            </a:avLst>
          </a:prstGeom>
          <a:solidFill>
            <a:schemeClr val="tx2"/>
          </a:solidFill>
          <a:ln/>
        </p:spPr>
      </p:sp>
      <p:sp>
        <p:nvSpPr>
          <p:cNvPr id="12" name="Text 122"/>
          <p:cNvSpPr txBox="1"/>
          <p:nvPr/>
        </p:nvSpPr>
        <p:spPr>
          <a:xfrm>
            <a:off x="6858000" y="16916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bg1"/>
                </a:solidFill>
              </a:rPr>
              <a:t>СЛЕДУЮЩИЙ ЭТАП · ASSIGNMENT 3</a:t>
            </a:r>
            <a:endParaRPr lang="en-US" sz="1200" dirty="0"/>
          </a:p>
        </p:txBody>
      </p:sp>
      <p:sp>
        <p:nvSpPr>
          <p:cNvPr id="13" name="Badge 123"/>
          <p:cNvSpPr/>
          <p:nvPr/>
        </p:nvSpPr>
        <p:spPr>
          <a:xfrm>
            <a:off x="6858000" y="233172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24"/>
          <p:cNvSpPr txBox="1"/>
          <p:nvPr/>
        </p:nvSpPr>
        <p:spPr>
          <a:xfrm>
            <a:off x="6858000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5" name="Text 125"/>
          <p:cNvSpPr txBox="1"/>
          <p:nvPr/>
        </p:nvSpPr>
        <p:spPr>
          <a:xfrm>
            <a:off x="7406640" y="224028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Градиентный бустинг (LightGBM / CatBoost) с подбором гиперпараметров</a:t>
            </a:r>
            <a:endParaRPr lang="en-US" sz="1400" dirty="0"/>
          </a:p>
        </p:txBody>
      </p:sp>
      <p:sp>
        <p:nvSpPr>
          <p:cNvPr id="16" name="Badge 126"/>
          <p:cNvSpPr/>
          <p:nvPr/>
        </p:nvSpPr>
        <p:spPr>
          <a:xfrm>
            <a:off x="6858000" y="32644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27"/>
          <p:cNvSpPr txBox="1"/>
          <p:nvPr/>
        </p:nvSpPr>
        <p:spPr>
          <a:xfrm>
            <a:off x="6858000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Text 128"/>
          <p:cNvSpPr txBox="1"/>
          <p:nvPr/>
        </p:nvSpPr>
        <p:spPr>
          <a:xfrm>
            <a:off x="7406640" y="3172968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Калибровка вероятностей для оценок риска</a:t>
            </a:r>
            <a:endParaRPr lang="en-US" sz="1400" dirty="0"/>
          </a:p>
        </p:txBody>
      </p:sp>
      <p:sp>
        <p:nvSpPr>
          <p:cNvPr id="19" name="Badge 129"/>
          <p:cNvSpPr/>
          <p:nvPr/>
        </p:nvSpPr>
        <p:spPr>
          <a:xfrm>
            <a:off x="6858000" y="419709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30"/>
          <p:cNvSpPr txBox="1"/>
          <p:nvPr/>
        </p:nvSpPr>
        <p:spPr>
          <a:xfrm>
            <a:off x="6858000" y="4197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Text 131"/>
          <p:cNvSpPr txBox="1"/>
          <p:nvPr/>
        </p:nvSpPr>
        <p:spPr>
          <a:xfrm>
            <a:off x="7406640" y="4105656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Дообученный мультиязычный трансформер на названиях лотов вместе с табличной моделью</a:t>
            </a:r>
            <a:endParaRPr lang="en-US" sz="1400" dirty="0"/>
          </a:p>
        </p:txBody>
      </p:sp>
      <p:sp>
        <p:nvSpPr>
          <p:cNvPr id="22" name="Badge 132"/>
          <p:cNvSpPr/>
          <p:nvPr/>
        </p:nvSpPr>
        <p:spPr>
          <a:xfrm>
            <a:off x="6858000" y="5129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133"/>
          <p:cNvSpPr txBox="1"/>
          <p:nvPr/>
        </p:nvSpPr>
        <p:spPr>
          <a:xfrm>
            <a:off x="6858000" y="5129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134"/>
          <p:cNvSpPr txBox="1"/>
          <p:nvPr/>
        </p:nvSpPr>
        <p:spPr>
          <a:xfrm>
            <a:off x="7406640" y="5038344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Оценка по сегментам: способы, кроме запроса цен, и дешёвые закупки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nder Risk">
  <a:themeElements>
    <a:clrScheme name="Tender Risk">
      <a:dk1>
        <a:srgbClr val="1A202C"/>
      </a:dk1>
      <a:lt1>
        <a:srgbClr val="FFFFFF"/>
      </a:lt1>
      <a:dk2>
        <a:srgbClr val="2D3748"/>
      </a:dk2>
      <a:lt2>
        <a:srgbClr val="EDF2F7"/>
      </a:lt2>
      <a:accent1>
        <a:srgbClr val="C53030"/>
      </a:accent1>
      <a:accent2>
        <a:srgbClr val="2B6CB0"/>
      </a:accent2>
      <a:accent3>
        <a:srgbClr val="2F855A"/>
      </a:accent3>
      <a:accent4>
        <a:srgbClr val="B7791F"/>
      </a:accent4>
      <a:accent5>
        <a:srgbClr val="718096"/>
      </a:accent5>
      <a:accent6>
        <a:srgbClr val="1F2A44"/>
      </a:accent6>
      <a:hlink>
        <a:srgbClr val="2B6CB0"/>
      </a:hlink>
      <a:folHlink>
        <a:srgbClr val="718096"/>
      </a:folHlink>
    </a:clrScheme>
    <a:fontScheme name="Tender Risk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Мидтерм — базовая модель: прогноз сорванных договоров госзакупок</dc:title>
  <dc:subject>PptxGenJS Presentation</dc:subject>
  <dc:creator>Aziz Abdulin</dc:creator>
  <cp:lastModifiedBy>Aziz Abdulin</cp:lastModifiedBy>
  <cp:revision>1</cp:revision>
  <dcterms:created xsi:type="dcterms:W3CDTF">2026-10-10T09:14:31Z</dcterms:created>
  <dcterms:modified xsi:type="dcterms:W3CDTF">2026-10-10T09:14:31Z</dcterms:modified>
</cp:coreProperties>
</file>